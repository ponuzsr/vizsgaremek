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omments/comment1.xml" ContentType="application/vnd.openxmlformats-officedocument.presentationml.comment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5" r:id="rId4"/>
    <p:sldId id="263" r:id="rId5"/>
    <p:sldId id="266" r:id="rId6"/>
    <p:sldId id="274" r:id="rId7"/>
    <p:sldId id="281" r:id="rId8"/>
    <p:sldId id="290" r:id="rId9"/>
    <p:sldId id="258" r:id="rId10"/>
    <p:sldId id="261" r:id="rId11"/>
    <p:sldId id="294" r:id="rId12"/>
    <p:sldId id="259" r:id="rId13"/>
    <p:sldId id="275" r:id="rId14"/>
    <p:sldId id="288" r:id="rId15"/>
    <p:sldId id="277" r:id="rId16"/>
    <p:sldId id="285" r:id="rId17"/>
    <p:sldId id="286" r:id="rId18"/>
    <p:sldId id="280" r:id="rId19"/>
    <p:sldId id="260" r:id="rId20"/>
    <p:sldId id="278" r:id="rId21"/>
    <p:sldId id="284" r:id="rId22"/>
    <p:sldId id="269" r:id="rId23"/>
    <p:sldId id="293" r:id="rId24"/>
    <p:sldId id="287" r:id="rId25"/>
    <p:sldId id="279" r:id="rId26"/>
    <p:sldId id="262" r:id="rId27"/>
    <p:sldId id="276" r:id="rId28"/>
    <p:sldId id="272" r:id="rId29"/>
    <p:sldId id="282" r:id="rId30"/>
    <p:sldId id="283" r:id="rId31"/>
    <p:sldId id="291" r:id="rId32"/>
    <p:sldId id="273" r:id="rId33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Papp Viktória" initials="PV" lastIdx="1" clrIdx="0">
    <p:extLst>
      <p:ext uri="{19B8F6BF-5375-455C-9EA6-DF929625EA0E}">
        <p15:presenceInfo xmlns:p15="http://schemas.microsoft.com/office/powerpoint/2012/main" userId="Papp Viktória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33237"/>
    <a:srgbClr val="302F3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115" d="100"/>
          <a:sy n="115" d="100"/>
        </p:scale>
        <p:origin x="432" y="1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commentAuthors" Target="commentAuthor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/Relationships>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5-03-04T10:35:05.390" idx="1">
    <p:pos x="7680" y="0"/>
    <p:text/>
    <p:extLst>
      <p:ext uri="{C676402C-5697-4E1C-873F-D02D1690AC5C}">
        <p15:threadingInfo xmlns:p15="http://schemas.microsoft.com/office/powerpoint/2012/main" timeZoneBias="-60"/>
      </p:ext>
    </p:extLst>
  </p:cm>
</p:cmLst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Alcím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FACEBD-E6DF-46BC-A87A-292CDFEBE7C7}" type="datetimeFigureOut">
              <a:rPr lang="hu-HU" smtClean="0"/>
              <a:t>2025. 04. 14.</a:t>
            </a:fld>
            <a:endParaRPr lang="hu-HU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CB6AA-1B4D-4E3F-AB3F-31811BE96BB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7278148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FACEBD-E6DF-46BC-A87A-292CDFEBE7C7}" type="datetimeFigureOut">
              <a:rPr lang="hu-HU" smtClean="0"/>
              <a:t>2025. 04. 14.</a:t>
            </a:fld>
            <a:endParaRPr lang="hu-HU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CB6AA-1B4D-4E3F-AB3F-31811BE96BB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5834533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Szöveg helye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FACEBD-E6DF-46BC-A87A-292CDFEBE7C7}" type="datetimeFigureOut">
              <a:rPr lang="hu-HU" smtClean="0"/>
              <a:t>2025. 04. 14.</a:t>
            </a:fld>
            <a:endParaRPr lang="hu-HU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CB6AA-1B4D-4E3F-AB3F-31811BE96BB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0460645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Tartalom helye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Dátum hely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FACEBD-E6DF-46BC-A87A-292CDFEBE7C7}" type="datetimeFigureOut">
              <a:rPr lang="hu-HU" smtClean="0"/>
              <a:t>2025. 04. 14.</a:t>
            </a:fld>
            <a:endParaRPr lang="hu-HU"/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CB6AA-1B4D-4E3F-AB3F-31811BE96BB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9633895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artalom helye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Szöveg helye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Tartalom helye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7" name="Dátum hely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FACEBD-E6DF-46BC-A87A-292CDFEBE7C7}" type="datetimeFigureOut">
              <a:rPr lang="hu-HU" smtClean="0"/>
              <a:t>2025. 04. 14.</a:t>
            </a:fld>
            <a:endParaRPr lang="hu-HU"/>
          </a:p>
        </p:txBody>
      </p:sp>
      <p:sp>
        <p:nvSpPr>
          <p:cNvPr id="8" name="Élőláb hely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Dia számának hely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CB6AA-1B4D-4E3F-AB3F-31811BE96BB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646849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Dátum hely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FACEBD-E6DF-46BC-A87A-292CDFEBE7C7}" type="datetimeFigureOut">
              <a:rPr lang="hu-HU" smtClean="0"/>
              <a:t>2025. 04. 14.</a:t>
            </a:fld>
            <a:endParaRPr lang="hu-HU"/>
          </a:p>
        </p:txBody>
      </p:sp>
      <p:sp>
        <p:nvSpPr>
          <p:cNvPr id="4" name="Élőláb hely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Dia számának hely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CB6AA-1B4D-4E3F-AB3F-31811BE96BB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8664656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átum hely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FACEBD-E6DF-46BC-A87A-292CDFEBE7C7}" type="datetimeFigureOut">
              <a:rPr lang="hu-HU" smtClean="0"/>
              <a:t>2025. 04. 14.</a:t>
            </a:fld>
            <a:endParaRPr lang="hu-HU"/>
          </a:p>
        </p:txBody>
      </p:sp>
      <p:sp>
        <p:nvSpPr>
          <p:cNvPr id="3" name="Élőláb hely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CB6AA-1B4D-4E3F-AB3F-31811BE96BB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9159390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Szöveg hely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FACEBD-E6DF-46BC-A87A-292CDFEBE7C7}" type="datetimeFigureOut">
              <a:rPr lang="hu-HU" smtClean="0"/>
              <a:t>2025. 04. 14.</a:t>
            </a:fld>
            <a:endParaRPr lang="hu-HU"/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CB6AA-1B4D-4E3F-AB3F-31811BE96BB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5440543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Kép helye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u-HU"/>
          </a:p>
        </p:txBody>
      </p:sp>
      <p:sp>
        <p:nvSpPr>
          <p:cNvPr id="4" name="Szöveg hely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FACEBD-E6DF-46BC-A87A-292CDFEBE7C7}" type="datetimeFigureOut">
              <a:rPr lang="hu-HU" smtClean="0"/>
              <a:t>2025. 04. 14.</a:t>
            </a:fld>
            <a:endParaRPr lang="hu-HU"/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CB6AA-1B4D-4E3F-AB3F-31811BE96BB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5598974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FACEBD-E6DF-46BC-A87A-292CDFEBE7C7}" type="datetimeFigureOut">
              <a:rPr lang="hu-HU" smtClean="0"/>
              <a:t>2025. 04. 14.</a:t>
            </a:fld>
            <a:endParaRPr lang="hu-HU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CB6AA-1B4D-4E3F-AB3F-31811BE96BB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891882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üggőleges cím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FACEBD-E6DF-46BC-A87A-292CDFEBE7C7}" type="datetimeFigureOut">
              <a:rPr lang="hu-HU" smtClean="0"/>
              <a:t>2025. 04. 14.</a:t>
            </a:fld>
            <a:endParaRPr lang="hu-HU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CB6AA-1B4D-4E3F-AB3F-31811BE96BB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3057861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hely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1FACEBD-E6DF-46BC-A87A-292CDFEBE7C7}" type="datetimeFigureOut">
              <a:rPr lang="hu-HU" smtClean="0"/>
              <a:t>2025. 04. 14.</a:t>
            </a:fld>
            <a:endParaRPr lang="hu-HU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25CB6AA-1B4D-4E3F-AB3F-31811BE96BB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6728278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jpe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gif"/><Relationship Id="rId4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5" Type="http://schemas.openxmlformats.org/officeDocument/2006/relationships/comments" Target="../comments/comment1.xml"/><Relationship Id="rId4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16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gif"/><Relationship Id="rId5" Type="http://schemas.openxmlformats.org/officeDocument/2006/relationships/image" Target="../media/image10.gif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3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37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.png"/><Relationship Id="rId5" Type="http://schemas.openxmlformats.org/officeDocument/2006/relationships/image" Target="../media/image25.png"/><Relationship Id="rId4" Type="http://schemas.openxmlformats.org/officeDocument/2006/relationships/image" Target="../media/image35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.png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.png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4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9.png"/><Relationship Id="rId5" Type="http://schemas.openxmlformats.org/officeDocument/2006/relationships/image" Target="../media/image48.png"/><Relationship Id="rId4" Type="http://schemas.openxmlformats.org/officeDocument/2006/relationships/image" Target="../media/image47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0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1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3.png"/><Relationship Id="rId4" Type="http://schemas.openxmlformats.org/officeDocument/2006/relationships/image" Target="../media/image52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4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6.png"/><Relationship Id="rId4" Type="http://schemas.openxmlformats.org/officeDocument/2006/relationships/image" Target="../media/image55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60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9.png"/><Relationship Id="rId5" Type="http://schemas.openxmlformats.org/officeDocument/2006/relationships/image" Target="../media/image58.png"/><Relationship Id="rId4" Type="http://schemas.openxmlformats.org/officeDocument/2006/relationships/image" Target="../media/image57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Kép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73152" y="0"/>
            <a:ext cx="12262637" cy="6858000"/>
          </a:xfrm>
          <a:prstGeom prst="rect">
            <a:avLst/>
          </a:prstGeom>
        </p:spPr>
      </p:pic>
      <p:pic>
        <p:nvPicPr>
          <p:cNvPr id="11" name="Kép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2048" y="2769206"/>
            <a:ext cx="4602806" cy="2505425"/>
          </a:xfrm>
          <a:prstGeom prst="rect">
            <a:avLst/>
          </a:prstGeom>
          <a:effectLst>
            <a:glow rad="101600">
              <a:srgbClr val="002060">
                <a:alpha val="60000"/>
              </a:srgbClr>
            </a:glow>
            <a:innerShdw blurRad="114300">
              <a:prstClr val="black"/>
            </a:innerShdw>
          </a:effectLst>
        </p:spPr>
      </p:pic>
      <p:sp>
        <p:nvSpPr>
          <p:cNvPr id="12" name="Szövegdoboz 11"/>
          <p:cNvSpPr txBox="1"/>
          <p:nvPr/>
        </p:nvSpPr>
        <p:spPr>
          <a:xfrm>
            <a:off x="121986" y="175649"/>
            <a:ext cx="3108960" cy="707886"/>
          </a:xfrm>
          <a:prstGeom prst="rect">
            <a:avLst/>
          </a:prstGeom>
          <a:noFill/>
          <a:ln>
            <a:solidFill>
              <a:schemeClr val="bg1"/>
            </a:solidFill>
          </a:ln>
          <a:effectLst>
            <a:glow rad="139700">
              <a:schemeClr val="accent3">
                <a:satMod val="175000"/>
                <a:alpha val="40000"/>
              </a:schemeClr>
            </a:glow>
          </a:effectLst>
        </p:spPr>
        <p:txBody>
          <a:bodyPr wrap="square" rtlCol="0">
            <a:spAutoFit/>
          </a:bodyPr>
          <a:lstStyle/>
          <a:p>
            <a:pPr algn="ctr"/>
            <a:r>
              <a:rPr lang="hu-HU" sz="4000" dirty="0">
                <a:solidFill>
                  <a:schemeClr val="bg1"/>
                </a:solidFill>
                <a:latin typeface="Imprint MT Shadow" panose="04020605060303030202" pitchFamily="82" charset="0"/>
              </a:rPr>
              <a:t>Készítették:</a:t>
            </a:r>
          </a:p>
        </p:txBody>
      </p:sp>
      <p:sp>
        <p:nvSpPr>
          <p:cNvPr id="18" name="Szövegdoboz 17"/>
          <p:cNvSpPr txBox="1"/>
          <p:nvPr/>
        </p:nvSpPr>
        <p:spPr>
          <a:xfrm>
            <a:off x="3114" y="3160227"/>
            <a:ext cx="16733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3200" dirty="0">
                <a:solidFill>
                  <a:schemeClr val="bg1"/>
                </a:solidFill>
                <a:latin typeface="Imprint MT Shadow" panose="04020605060303030202" pitchFamily="82" charset="0"/>
              </a:rPr>
              <a:t>Pónuzs</a:t>
            </a:r>
          </a:p>
        </p:txBody>
      </p:sp>
      <p:sp>
        <p:nvSpPr>
          <p:cNvPr id="19" name="Szövegdoboz 18"/>
          <p:cNvSpPr txBox="1"/>
          <p:nvPr/>
        </p:nvSpPr>
        <p:spPr>
          <a:xfrm>
            <a:off x="1249856" y="3665293"/>
            <a:ext cx="223542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3200" dirty="0">
                <a:solidFill>
                  <a:schemeClr val="bg1"/>
                </a:solidFill>
                <a:latin typeface="Imprint MT Shadow" panose="04020605060303030202" pitchFamily="82" charset="0"/>
              </a:rPr>
              <a:t>Richárd</a:t>
            </a:r>
          </a:p>
        </p:txBody>
      </p:sp>
      <p:sp>
        <p:nvSpPr>
          <p:cNvPr id="20" name="Szövegdoboz 19"/>
          <p:cNvSpPr txBox="1"/>
          <p:nvPr/>
        </p:nvSpPr>
        <p:spPr>
          <a:xfrm>
            <a:off x="2645281" y="4051030"/>
            <a:ext cx="14447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3200" dirty="0">
                <a:solidFill>
                  <a:schemeClr val="bg1"/>
                </a:solidFill>
                <a:latin typeface="Imprint MT Shadow" panose="04020605060303030202" pitchFamily="82" charset="0"/>
              </a:rPr>
              <a:t>Gyula</a:t>
            </a:r>
          </a:p>
        </p:txBody>
      </p:sp>
      <p:sp>
        <p:nvSpPr>
          <p:cNvPr id="21" name="Szövegdoboz 20"/>
          <p:cNvSpPr txBox="1"/>
          <p:nvPr/>
        </p:nvSpPr>
        <p:spPr>
          <a:xfrm>
            <a:off x="6140161" y="5328155"/>
            <a:ext cx="5102352" cy="707886"/>
          </a:xfrm>
          <a:prstGeom prst="rect">
            <a:avLst/>
          </a:prstGeom>
          <a:noFill/>
          <a:ln>
            <a:solidFill>
              <a:schemeClr val="bg1"/>
            </a:solidFill>
          </a:ln>
          <a:effectLst>
            <a:glow rad="139700">
              <a:schemeClr val="accent3">
                <a:satMod val="175000"/>
                <a:alpha val="40000"/>
              </a:schemeClr>
            </a:glow>
          </a:effectLst>
        </p:spPr>
        <p:txBody>
          <a:bodyPr wrap="square" rtlCol="0">
            <a:spAutoFit/>
          </a:bodyPr>
          <a:lstStyle/>
          <a:p>
            <a:pPr algn="ctr"/>
            <a:r>
              <a:rPr lang="hu-HU" sz="4000" i="1" dirty="0">
                <a:solidFill>
                  <a:schemeClr val="bg1"/>
                </a:solidFill>
                <a:latin typeface="Imprint MT Shadow" panose="04020605060303030202" pitchFamily="82" charset="0"/>
              </a:rPr>
              <a:t>CLASSICGARAGE</a:t>
            </a:r>
          </a:p>
        </p:txBody>
      </p:sp>
      <p:pic>
        <p:nvPicPr>
          <p:cNvPr id="23" name="Kép 22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07729" y="962433"/>
            <a:ext cx="5734784" cy="4251650"/>
          </a:xfrm>
          <a:prstGeom prst="rect">
            <a:avLst/>
          </a:prstGeom>
          <a:effectLst>
            <a:glow rad="228600">
              <a:schemeClr val="accent5">
                <a:satMod val="175000"/>
                <a:alpha val="40000"/>
              </a:schemeClr>
            </a:glow>
          </a:effectLst>
        </p:spPr>
      </p:pic>
      <p:pic>
        <p:nvPicPr>
          <p:cNvPr id="26" name="Kép 2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89870" y="4603229"/>
            <a:ext cx="5240394" cy="2712955"/>
          </a:xfrm>
          <a:prstGeom prst="rect">
            <a:avLst/>
          </a:prstGeom>
          <a:effectLst>
            <a:innerShdw blurRad="114300">
              <a:prstClr val="black"/>
            </a:innerShdw>
          </a:effectLst>
        </p:spPr>
      </p:pic>
      <p:pic>
        <p:nvPicPr>
          <p:cNvPr id="28" name="Kép 2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147848" y="608450"/>
            <a:ext cx="4157966" cy="2712955"/>
          </a:xfrm>
          <a:prstGeom prst="rect">
            <a:avLst/>
          </a:prstGeom>
          <a:effectLst>
            <a:innerShdw blurRad="114300">
              <a:prstClr val="black"/>
            </a:innerShdw>
          </a:effectLst>
        </p:spPr>
      </p:pic>
      <p:sp>
        <p:nvSpPr>
          <p:cNvPr id="29" name="Szövegdoboz 28"/>
          <p:cNvSpPr txBox="1"/>
          <p:nvPr/>
        </p:nvSpPr>
        <p:spPr>
          <a:xfrm>
            <a:off x="0" y="5118969"/>
            <a:ext cx="152704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3600" dirty="0">
                <a:solidFill>
                  <a:schemeClr val="bg1"/>
                </a:solidFill>
                <a:latin typeface="Imprint MT Shadow" panose="04020605060303030202" pitchFamily="82" charset="0"/>
              </a:rPr>
              <a:t>Koncz</a:t>
            </a:r>
          </a:p>
        </p:txBody>
      </p:sp>
      <p:sp>
        <p:nvSpPr>
          <p:cNvPr id="30" name="Szövegdoboz 29"/>
          <p:cNvSpPr txBox="1"/>
          <p:nvPr/>
        </p:nvSpPr>
        <p:spPr>
          <a:xfrm>
            <a:off x="1330356" y="5558767"/>
            <a:ext cx="15624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3600" dirty="0">
                <a:solidFill>
                  <a:schemeClr val="bg1"/>
                </a:solidFill>
                <a:latin typeface="Imprint MT Shadow" panose="04020605060303030202" pitchFamily="82" charset="0"/>
              </a:rPr>
              <a:t>Dániel</a:t>
            </a:r>
          </a:p>
        </p:txBody>
      </p:sp>
      <p:sp>
        <p:nvSpPr>
          <p:cNvPr id="31" name="Szövegdoboz 30"/>
          <p:cNvSpPr txBox="1"/>
          <p:nvPr/>
        </p:nvSpPr>
        <p:spPr>
          <a:xfrm>
            <a:off x="2645281" y="6060448"/>
            <a:ext cx="173033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3600" dirty="0">
                <a:solidFill>
                  <a:schemeClr val="bg1"/>
                </a:solidFill>
                <a:latin typeface="Imprint MT Shadow" panose="04020605060303030202" pitchFamily="82" charset="0"/>
              </a:rPr>
              <a:t>Marcell</a:t>
            </a:r>
          </a:p>
        </p:txBody>
      </p:sp>
      <p:sp>
        <p:nvSpPr>
          <p:cNvPr id="32" name="Szövegdoboz 31"/>
          <p:cNvSpPr txBox="1"/>
          <p:nvPr/>
        </p:nvSpPr>
        <p:spPr>
          <a:xfrm>
            <a:off x="0" y="1192180"/>
            <a:ext cx="125272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3600" dirty="0">
                <a:solidFill>
                  <a:schemeClr val="bg1"/>
                </a:solidFill>
                <a:latin typeface="Imprint MT Shadow" panose="04020605060303030202" pitchFamily="82" charset="0"/>
              </a:rPr>
              <a:t>Papp</a:t>
            </a:r>
          </a:p>
        </p:txBody>
      </p:sp>
      <p:sp>
        <p:nvSpPr>
          <p:cNvPr id="33" name="Szövegdoboz 32"/>
          <p:cNvSpPr txBox="1"/>
          <p:nvPr/>
        </p:nvSpPr>
        <p:spPr>
          <a:xfrm>
            <a:off x="1330356" y="1933627"/>
            <a:ext cx="185641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3600" dirty="0">
                <a:solidFill>
                  <a:schemeClr val="bg1"/>
                </a:solidFill>
                <a:latin typeface="Imprint MT Shadow" panose="04020605060303030202" pitchFamily="82" charset="0"/>
              </a:rPr>
              <a:t>Viktória</a:t>
            </a:r>
          </a:p>
        </p:txBody>
      </p:sp>
      <p:pic>
        <p:nvPicPr>
          <p:cNvPr id="3" name="Kép 2"/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485" b="18493"/>
          <a:stretch/>
        </p:blipFill>
        <p:spPr>
          <a:xfrm>
            <a:off x="6330537" y="1367246"/>
            <a:ext cx="4089168" cy="22630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3196489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4008" y="0"/>
            <a:ext cx="12256008" cy="6858000"/>
          </a:xfrm>
          <a:prstGeom prst="rect">
            <a:avLst/>
          </a:prstGeom>
        </p:spPr>
      </p:pic>
      <p:pic>
        <p:nvPicPr>
          <p:cNvPr id="5" name="Kép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4008" y="-342887"/>
            <a:ext cx="4472201" cy="2184698"/>
          </a:xfrm>
          <a:prstGeom prst="rect">
            <a:avLst/>
          </a:prstGeom>
          <a:effectLst>
            <a:glow rad="101600">
              <a:srgbClr val="002060">
                <a:alpha val="60000"/>
              </a:srgbClr>
            </a:glow>
            <a:innerShdw blurRad="114300">
              <a:prstClr val="black"/>
            </a:innerShdw>
          </a:effectLst>
        </p:spPr>
      </p:pic>
      <p:sp>
        <p:nvSpPr>
          <p:cNvPr id="6" name="Szövegdoboz 5"/>
          <p:cNvSpPr txBox="1"/>
          <p:nvPr/>
        </p:nvSpPr>
        <p:spPr>
          <a:xfrm>
            <a:off x="149470" y="128820"/>
            <a:ext cx="302455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3600" dirty="0">
                <a:solidFill>
                  <a:schemeClr val="bg1"/>
                </a:solidFill>
                <a:latin typeface="Imprint MT Shadow" panose="04020605060303030202" pitchFamily="82" charset="0"/>
              </a:rPr>
              <a:t>A projektünk </a:t>
            </a:r>
          </a:p>
          <a:p>
            <a:r>
              <a:rPr lang="hu-HU" sz="3600" dirty="0">
                <a:solidFill>
                  <a:schemeClr val="bg1"/>
                </a:solidFill>
                <a:latin typeface="Imprint MT Shadow" panose="04020605060303030202" pitchFamily="82" charset="0"/>
              </a:rPr>
              <a:t>létrejötte </a:t>
            </a:r>
          </a:p>
        </p:txBody>
      </p:sp>
      <p:sp>
        <p:nvSpPr>
          <p:cNvPr id="7" name="Szövegdoboz 6"/>
          <p:cNvSpPr txBox="1"/>
          <p:nvPr/>
        </p:nvSpPr>
        <p:spPr>
          <a:xfrm>
            <a:off x="149470" y="1913934"/>
            <a:ext cx="5987561" cy="4062651"/>
          </a:xfrm>
          <a:prstGeom prst="rect">
            <a:avLst/>
          </a:prstGeom>
          <a:noFill/>
          <a:ln>
            <a:solidFill>
              <a:srgbClr val="333237"/>
            </a:solidFill>
          </a:ln>
          <a:effectLst>
            <a:glow rad="101600">
              <a:srgbClr val="302F34">
                <a:alpha val="60000"/>
              </a:srgbClr>
            </a:glow>
          </a:effectLst>
        </p:spPr>
        <p:txBody>
          <a:bodyPr wrap="square" rtlCol="0">
            <a:spAutoFit/>
          </a:bodyPr>
          <a:lstStyle/>
          <a:p>
            <a:r>
              <a:rPr lang="hu-HU" sz="2400" dirty="0">
                <a:solidFill>
                  <a:schemeClr val="bg1"/>
                </a:solidFill>
                <a:latin typeface="Imprint MT Shadow" panose="04020605060303030202" pitchFamily="82" charset="0"/>
              </a:rPr>
              <a:t>Csapatunk tagjait a történelem és az autók iránti érdeklődés egyaránt motiválja. </a:t>
            </a:r>
          </a:p>
          <a:p>
            <a:r>
              <a:rPr lang="hu-HU" sz="2400" dirty="0">
                <a:solidFill>
                  <a:schemeClr val="bg1"/>
                </a:solidFill>
                <a:latin typeface="Imprint MT Shadow" panose="04020605060303030202" pitchFamily="82" charset="0"/>
              </a:rPr>
              <a:t>E két szenvedély ötvözeteként hoztuk létre a „ClassicGarage” weboldalt aminek nevét a kreatív csapat tagok találtak ki. </a:t>
            </a:r>
          </a:p>
          <a:p>
            <a:endParaRPr lang="hu-HU" sz="2400" dirty="0">
              <a:solidFill>
                <a:schemeClr val="bg1"/>
              </a:solidFill>
              <a:latin typeface="Imprint MT Shadow" panose="04020605060303030202" pitchFamily="82" charset="0"/>
            </a:endParaRPr>
          </a:p>
          <a:p>
            <a:r>
              <a:rPr lang="hu-HU" sz="2400" dirty="0">
                <a:solidFill>
                  <a:schemeClr val="bg1"/>
                </a:solidFill>
                <a:latin typeface="Imprint MT Shadow" panose="04020605060303030202" pitchFamily="82" charset="0"/>
              </a:rPr>
              <a:t>Itt a 50-es évektől egészen a 80-as évekig mutatjuk be az autókat, képekkel, érdekességekkel és izgalmas történetekkel illetve egyéb extrákkal.</a:t>
            </a:r>
          </a:p>
          <a:p>
            <a:endParaRPr lang="hu-HU" dirty="0"/>
          </a:p>
        </p:txBody>
      </p:sp>
      <p:pic>
        <p:nvPicPr>
          <p:cNvPr id="3" name="Kép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flipH="1">
            <a:off x="7570177" y="-445458"/>
            <a:ext cx="4713294" cy="2389839"/>
          </a:xfrm>
          <a:prstGeom prst="rect">
            <a:avLst/>
          </a:prstGeom>
        </p:spPr>
      </p:pic>
      <p:sp>
        <p:nvSpPr>
          <p:cNvPr id="8" name="Szövegdoboz 7"/>
          <p:cNvSpPr txBox="1"/>
          <p:nvPr/>
        </p:nvSpPr>
        <p:spPr>
          <a:xfrm>
            <a:off x="8721969" y="190375"/>
            <a:ext cx="356150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3200" dirty="0">
                <a:solidFill>
                  <a:schemeClr val="bg1"/>
                </a:solidFill>
                <a:latin typeface="Imprint MT Shadow" panose="04020605060303030202" pitchFamily="82" charset="0"/>
              </a:rPr>
              <a:t>Miben segít a mi weboldalunk?</a:t>
            </a:r>
          </a:p>
        </p:txBody>
      </p:sp>
      <p:sp>
        <p:nvSpPr>
          <p:cNvPr id="9" name="Szövegdoboz 8"/>
          <p:cNvSpPr txBox="1"/>
          <p:nvPr/>
        </p:nvSpPr>
        <p:spPr>
          <a:xfrm>
            <a:off x="7013178" y="1713051"/>
            <a:ext cx="5029200" cy="4893647"/>
          </a:xfrm>
          <a:prstGeom prst="rect">
            <a:avLst/>
          </a:prstGeom>
          <a:noFill/>
          <a:ln>
            <a:solidFill>
              <a:srgbClr val="333237"/>
            </a:solidFill>
          </a:ln>
          <a:effectLst>
            <a:glow rad="101600">
              <a:srgbClr val="302F34">
                <a:alpha val="60000"/>
              </a:srgbClr>
            </a:glow>
          </a:effectLst>
        </p:spPr>
        <p:txBody>
          <a:bodyPr wrap="square" rtlCol="0">
            <a:spAutoFit/>
          </a:bodyPr>
          <a:lstStyle/>
          <a:p>
            <a:r>
              <a:rPr lang="hu-HU" sz="2400" dirty="0">
                <a:solidFill>
                  <a:schemeClr val="bg1"/>
                </a:solidFill>
                <a:latin typeface="Imprint MT Shadow" panose="04020605060303030202" pitchFamily="82" charset="0"/>
              </a:rPr>
              <a:t>Ez egy ismeretterjesztő oldal retro autókról amit azért hoztunk létre, hogy a retro autók szeretőinek illetve annak megismerőinek segíteni tudjunk.</a:t>
            </a:r>
          </a:p>
          <a:p>
            <a:r>
              <a:rPr lang="hu-HU" sz="2400" dirty="0">
                <a:solidFill>
                  <a:schemeClr val="bg1"/>
                </a:solidFill>
                <a:latin typeface="Imprint MT Shadow" panose="04020605060303030202" pitchFamily="82" charset="0"/>
              </a:rPr>
              <a:t>Illetve ezzel szeretnénk egy közösséget is kiépíteni ahol a felhasználók tudnak egymásnak segíteni. </a:t>
            </a:r>
          </a:p>
          <a:p>
            <a:r>
              <a:rPr lang="hu-HU" sz="2400" dirty="0">
                <a:solidFill>
                  <a:schemeClr val="bg1"/>
                </a:solidFill>
                <a:latin typeface="Imprint MT Shadow" panose="04020605060303030202" pitchFamily="82" charset="0"/>
              </a:rPr>
              <a:t>Ilyen össze szedett szépen megformázott és sok minden jóval ellátott weboldal nincs még egy mint a miénk.</a:t>
            </a:r>
          </a:p>
        </p:txBody>
      </p:sp>
    </p:spTree>
    <p:extLst>
      <p:ext uri="{BB962C8B-B14F-4D97-AF65-F5344CB8AC3E}">
        <p14:creationId xmlns:p14="http://schemas.microsoft.com/office/powerpoint/2010/main" val="3167465308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750">
        <p15:prstTrans prst="curtains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4008" y="0"/>
            <a:ext cx="12256008" cy="6858000"/>
          </a:xfrm>
          <a:prstGeom prst="rect">
            <a:avLst/>
          </a:prstGeom>
        </p:spPr>
      </p:pic>
      <p:pic>
        <p:nvPicPr>
          <p:cNvPr id="2" name="Kép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82880" y="-483468"/>
            <a:ext cx="4751601" cy="2622986"/>
          </a:xfrm>
          <a:prstGeom prst="rect">
            <a:avLst/>
          </a:prstGeom>
        </p:spPr>
      </p:pic>
      <p:sp>
        <p:nvSpPr>
          <p:cNvPr id="3" name="Szövegdoboz 2"/>
          <p:cNvSpPr txBox="1"/>
          <p:nvPr/>
        </p:nvSpPr>
        <p:spPr>
          <a:xfrm>
            <a:off x="215210" y="432361"/>
            <a:ext cx="385789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3600" dirty="0">
                <a:solidFill>
                  <a:schemeClr val="bg1"/>
                </a:solidFill>
                <a:latin typeface="Imprint MT Shadow" panose="04020605060303030202" pitchFamily="82" charset="0"/>
              </a:rPr>
              <a:t>Munkafelosztás</a:t>
            </a:r>
          </a:p>
        </p:txBody>
      </p:sp>
      <p:pic>
        <p:nvPicPr>
          <p:cNvPr id="5" name="Kép 4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2" t="16368" r="80779" b="63373"/>
          <a:stretch/>
        </p:blipFill>
        <p:spPr>
          <a:xfrm>
            <a:off x="672384" y="4364417"/>
            <a:ext cx="3105320" cy="1617057"/>
          </a:xfrm>
          <a:prstGeom prst="rect">
            <a:avLst/>
          </a:prstGeom>
        </p:spPr>
      </p:pic>
      <p:pic>
        <p:nvPicPr>
          <p:cNvPr id="6" name="Kép 5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7038511" flipH="1" flipV="1">
            <a:off x="944659" y="2806608"/>
            <a:ext cx="1823976" cy="1780918"/>
          </a:xfrm>
          <a:prstGeom prst="rect">
            <a:avLst/>
          </a:prstGeom>
        </p:spPr>
      </p:pic>
      <p:sp>
        <p:nvSpPr>
          <p:cNvPr id="7" name="Szövegdoboz 6"/>
          <p:cNvSpPr txBox="1"/>
          <p:nvPr/>
        </p:nvSpPr>
        <p:spPr>
          <a:xfrm>
            <a:off x="2731990" y="2667799"/>
            <a:ext cx="3729771" cy="830997"/>
          </a:xfrm>
          <a:prstGeom prst="rect">
            <a:avLst/>
          </a:prstGeom>
          <a:noFill/>
          <a:ln>
            <a:solidFill>
              <a:srgbClr val="333237"/>
            </a:solidFill>
          </a:ln>
          <a:effectLst>
            <a:glow rad="101600">
              <a:srgbClr val="302F34">
                <a:alpha val="60000"/>
              </a:srgbClr>
            </a:glow>
          </a:effectLst>
        </p:spPr>
        <p:txBody>
          <a:bodyPr wrap="square" rtlCol="0">
            <a:spAutoFit/>
          </a:bodyPr>
          <a:lstStyle/>
          <a:p>
            <a:r>
              <a:rPr lang="hu-HU" sz="2400" dirty="0">
                <a:solidFill>
                  <a:schemeClr val="bg1"/>
                </a:solidFill>
                <a:latin typeface="Imprint MT Shadow" panose="04020605060303030202" pitchFamily="82" charset="0"/>
              </a:rPr>
              <a:t>A munka felosztása Trelloban történt meg.</a:t>
            </a:r>
          </a:p>
        </p:txBody>
      </p:sp>
      <p:sp>
        <p:nvSpPr>
          <p:cNvPr id="8" name="Szövegdoboz 7"/>
          <p:cNvSpPr txBox="1"/>
          <p:nvPr/>
        </p:nvSpPr>
        <p:spPr>
          <a:xfrm>
            <a:off x="7000627" y="1836802"/>
            <a:ext cx="414528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400" i="1" dirty="0">
                <a:solidFill>
                  <a:schemeClr val="bg1"/>
                </a:solidFill>
                <a:latin typeface="Imprint MT Shadow" panose="04020605060303030202" pitchFamily="82" charset="0"/>
              </a:rPr>
              <a:t>Papp Viktória: </a:t>
            </a:r>
            <a:r>
              <a:rPr lang="hu-HU" sz="2400" dirty="0">
                <a:solidFill>
                  <a:schemeClr val="bg1"/>
                </a:solidFill>
                <a:latin typeface="Imprint MT Shadow" panose="04020605060303030202" pitchFamily="82" charset="0"/>
              </a:rPr>
              <a:t>Frontend, ppt és dokumentáció.</a:t>
            </a:r>
          </a:p>
        </p:txBody>
      </p:sp>
      <p:sp>
        <p:nvSpPr>
          <p:cNvPr id="9" name="Szövegdoboz 8"/>
          <p:cNvSpPr txBox="1"/>
          <p:nvPr/>
        </p:nvSpPr>
        <p:spPr>
          <a:xfrm>
            <a:off x="7000627" y="2667798"/>
            <a:ext cx="404184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400" i="1" dirty="0">
                <a:solidFill>
                  <a:schemeClr val="bg1"/>
                </a:solidFill>
                <a:latin typeface="Imprint MT Shadow" panose="04020605060303030202" pitchFamily="82" charset="0"/>
              </a:rPr>
              <a:t>Pónuzs Richárd Gyula: </a:t>
            </a:r>
            <a:r>
              <a:rPr lang="hu-HU" sz="2400" dirty="0">
                <a:solidFill>
                  <a:schemeClr val="bg1"/>
                </a:solidFill>
                <a:latin typeface="Imprint MT Shadow" panose="04020605060303030202" pitchFamily="82" charset="0"/>
              </a:rPr>
              <a:t>Backend, ppt, dokumentáció.</a:t>
            </a:r>
          </a:p>
        </p:txBody>
      </p:sp>
      <p:sp>
        <p:nvSpPr>
          <p:cNvPr id="10" name="Szövegdoboz 9"/>
          <p:cNvSpPr txBox="1"/>
          <p:nvPr/>
        </p:nvSpPr>
        <p:spPr>
          <a:xfrm>
            <a:off x="7000627" y="3516404"/>
            <a:ext cx="451974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400" i="1" dirty="0">
                <a:solidFill>
                  <a:schemeClr val="bg1"/>
                </a:solidFill>
                <a:latin typeface="Imprint MT Shadow" panose="04020605060303030202" pitchFamily="82" charset="0"/>
              </a:rPr>
              <a:t>Koncz Dániel Marcell: </a:t>
            </a:r>
            <a:r>
              <a:rPr lang="hu-HU" sz="2400" dirty="0">
                <a:solidFill>
                  <a:schemeClr val="bg1"/>
                </a:solidFill>
                <a:latin typeface="Imprint MT Shadow" panose="04020605060303030202" pitchFamily="82" charset="0"/>
              </a:rPr>
              <a:t>Backend, adatbázis, dokumentáció.</a:t>
            </a:r>
          </a:p>
        </p:txBody>
      </p:sp>
      <p:sp>
        <p:nvSpPr>
          <p:cNvPr id="11" name="Szövegdoboz 10"/>
          <p:cNvSpPr txBox="1"/>
          <p:nvPr/>
        </p:nvSpPr>
        <p:spPr>
          <a:xfrm>
            <a:off x="7053410" y="4364417"/>
            <a:ext cx="3936275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400" dirty="0">
                <a:solidFill>
                  <a:schemeClr val="bg1"/>
                </a:solidFill>
                <a:latin typeface="Imprint MT Shadow" panose="04020605060303030202" pitchFamily="82" charset="0"/>
              </a:rPr>
              <a:t>Bár a feladatokat kiosztottuk még is ha valakinek segítség kellett tudtunk egymásnak segíteni.</a:t>
            </a:r>
          </a:p>
        </p:txBody>
      </p:sp>
      <p:pic>
        <p:nvPicPr>
          <p:cNvPr id="13" name="Kép 12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7985635">
            <a:off x="4577967" y="4508864"/>
            <a:ext cx="1920239" cy="19202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1830915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spd="slow">
        <p15:prstTrans prst="crush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2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2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2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2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2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2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2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2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2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2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2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2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2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2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2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2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/>
      <p:bldP spid="9" grpId="0"/>
      <p:bldP spid="10" grpId="0"/>
      <p:bldP spid="1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4008" y="0"/>
            <a:ext cx="12256008" cy="6858000"/>
          </a:xfrm>
          <a:prstGeom prst="rect">
            <a:avLst/>
          </a:prstGeom>
        </p:spPr>
      </p:pic>
      <p:pic>
        <p:nvPicPr>
          <p:cNvPr id="2" name="Kép 1"/>
          <p:cNvPicPr>
            <a:picLocks noChangeAspect="1"/>
          </p:cNvPicPr>
          <p:nvPr/>
        </p:nvPicPr>
        <p:blipFill rotWithShape="1">
          <a:blip r:embed="rId3"/>
          <a:srcRect l="25003"/>
          <a:stretch/>
        </p:blipFill>
        <p:spPr>
          <a:xfrm>
            <a:off x="-64008" y="-474590"/>
            <a:ext cx="3748924" cy="2534210"/>
          </a:xfrm>
          <a:prstGeom prst="rect">
            <a:avLst/>
          </a:prstGeom>
        </p:spPr>
      </p:pic>
      <p:sp>
        <p:nvSpPr>
          <p:cNvPr id="3" name="Szövegdoboz 2">
            <a:extLst>
              <a:ext uri="{FF2B5EF4-FFF2-40B4-BE49-F238E27FC236}">
                <a16:creationId xmlns:a16="http://schemas.microsoft.com/office/drawing/2014/main" id="{F0FFBDAC-647A-42DA-8685-F53A7F124D27}"/>
              </a:ext>
            </a:extLst>
          </p:cNvPr>
          <p:cNvSpPr txBox="1"/>
          <p:nvPr/>
        </p:nvSpPr>
        <p:spPr>
          <a:xfrm>
            <a:off x="369311" y="385635"/>
            <a:ext cx="160813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sz="3600" dirty="0">
                <a:solidFill>
                  <a:schemeClr val="bg1"/>
                </a:solidFill>
                <a:latin typeface="Imprint MT Shadow" panose="04020605060303030202" pitchFamily="82" charset="0"/>
              </a:rPr>
              <a:t>Github</a:t>
            </a: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D3B753B8-E8CC-4D64-B0B0-EB30EB1200C9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365" t="14202" r="45662" b="17392"/>
          <a:stretch/>
        </p:blipFill>
        <p:spPr>
          <a:xfrm>
            <a:off x="424528" y="2188435"/>
            <a:ext cx="3105832" cy="3637599"/>
          </a:xfrm>
          <a:prstGeom prst="rect">
            <a:avLst/>
          </a:prstGeom>
          <a:effectLst>
            <a:glow rad="139700">
              <a:schemeClr val="accent5">
                <a:satMod val="175000"/>
                <a:alpha val="40000"/>
              </a:schemeClr>
            </a:glow>
          </a:effectLst>
        </p:spPr>
      </p:pic>
      <p:sp>
        <p:nvSpPr>
          <p:cNvPr id="6" name="Szövegdoboz 5">
            <a:extLst>
              <a:ext uri="{FF2B5EF4-FFF2-40B4-BE49-F238E27FC236}">
                <a16:creationId xmlns:a16="http://schemas.microsoft.com/office/drawing/2014/main" id="{0FA7EB77-FE77-4857-BEA4-9DAE2A8CD517}"/>
              </a:ext>
            </a:extLst>
          </p:cNvPr>
          <p:cNvSpPr txBox="1"/>
          <p:nvPr/>
        </p:nvSpPr>
        <p:spPr>
          <a:xfrm>
            <a:off x="3801294" y="2188435"/>
            <a:ext cx="3810022" cy="3539430"/>
          </a:xfrm>
          <a:prstGeom prst="rect">
            <a:avLst/>
          </a:prstGeom>
          <a:noFill/>
          <a:ln>
            <a:solidFill>
              <a:srgbClr val="302F34"/>
            </a:solidFill>
          </a:ln>
          <a:effectLst>
            <a:glow rad="101600">
              <a:srgbClr val="302F34">
                <a:alpha val="60000"/>
              </a:srgbClr>
            </a:glow>
          </a:effectLst>
        </p:spPr>
        <p:txBody>
          <a:bodyPr wrap="square" rtlCol="0">
            <a:spAutoFit/>
          </a:bodyPr>
          <a:lstStyle/>
          <a:p>
            <a:r>
              <a:rPr lang="hu-HU" sz="3200" dirty="0">
                <a:solidFill>
                  <a:schemeClr val="bg1"/>
                </a:solidFill>
                <a:latin typeface="Imprint MT Shadow" panose="04020605060303030202" pitchFamily="82" charset="0"/>
              </a:rPr>
              <a:t>5 Branch található a GitHub-ba ebből mi 4ben dolgozunk. Backend, Database, Dokumentumok és Frontend</a:t>
            </a:r>
          </a:p>
          <a:p>
            <a:endParaRPr lang="hu-HU" sz="3200" dirty="0"/>
          </a:p>
        </p:txBody>
      </p:sp>
      <p:sp>
        <p:nvSpPr>
          <p:cNvPr id="7" name="Szövegdoboz 6"/>
          <p:cNvSpPr txBox="1"/>
          <p:nvPr/>
        </p:nvSpPr>
        <p:spPr>
          <a:xfrm>
            <a:off x="7882251" y="2188435"/>
            <a:ext cx="4159620" cy="3108543"/>
          </a:xfrm>
          <a:prstGeom prst="rect">
            <a:avLst/>
          </a:prstGeom>
          <a:noFill/>
          <a:ln>
            <a:solidFill>
              <a:srgbClr val="302F34"/>
            </a:solidFill>
          </a:ln>
          <a:effectLst>
            <a:glow rad="101600">
              <a:srgbClr val="302F34">
                <a:alpha val="60000"/>
              </a:srgbClr>
            </a:glow>
          </a:effectLst>
        </p:spPr>
        <p:txBody>
          <a:bodyPr wrap="square" rtlCol="0">
            <a:spAutoFit/>
          </a:bodyPr>
          <a:lstStyle/>
          <a:p>
            <a:r>
              <a:rPr lang="hu-HU" sz="2800" dirty="0">
                <a:solidFill>
                  <a:schemeClr val="bg1"/>
                </a:solidFill>
                <a:latin typeface="Imprint MT Shadow" panose="04020605060303030202" pitchFamily="82" charset="0"/>
              </a:rPr>
              <a:t>Eleinte voltak nehézségeink a GitHub működésével de mára már szerencsére minden bajunk megoldódott és könnyen dolgozunk benne.</a:t>
            </a:r>
          </a:p>
        </p:txBody>
      </p:sp>
    </p:spTree>
    <p:extLst>
      <p:ext uri="{BB962C8B-B14F-4D97-AF65-F5344CB8AC3E}">
        <p14:creationId xmlns:p14="http://schemas.microsoft.com/office/powerpoint/2010/main" val="2352895758"/>
      </p:ext>
    </p:extLst>
  </p:cSld>
  <p:clrMapOvr>
    <a:masterClrMapping/>
  </p:clrMapOvr>
  <p:transition spd="med">
    <p:comb/>
  </p:transition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4008" y="0"/>
            <a:ext cx="12256008" cy="6858000"/>
          </a:xfrm>
          <a:prstGeom prst="rect">
            <a:avLst/>
          </a:prstGeom>
        </p:spPr>
      </p:pic>
      <p:pic>
        <p:nvPicPr>
          <p:cNvPr id="2" name="Kép 1"/>
          <p:cNvPicPr>
            <a:picLocks noChangeAspect="1"/>
          </p:cNvPicPr>
          <p:nvPr/>
        </p:nvPicPr>
        <p:blipFill rotWithShape="1">
          <a:blip r:embed="rId3"/>
          <a:srcRect l="22851"/>
          <a:stretch/>
        </p:blipFill>
        <p:spPr>
          <a:xfrm>
            <a:off x="-64008" y="-438485"/>
            <a:ext cx="3520032" cy="2313108"/>
          </a:xfrm>
          <a:prstGeom prst="rect">
            <a:avLst/>
          </a:prstGeom>
        </p:spPr>
      </p:pic>
      <p:sp>
        <p:nvSpPr>
          <p:cNvPr id="3" name="Szövegdoboz 2">
            <a:extLst>
              <a:ext uri="{FF2B5EF4-FFF2-40B4-BE49-F238E27FC236}">
                <a16:creationId xmlns:a16="http://schemas.microsoft.com/office/drawing/2014/main" id="{60903002-9ADB-45DF-AEED-82C64991DA36}"/>
              </a:ext>
            </a:extLst>
          </p:cNvPr>
          <p:cNvSpPr txBox="1"/>
          <p:nvPr/>
        </p:nvSpPr>
        <p:spPr>
          <a:xfrm>
            <a:off x="73737" y="310843"/>
            <a:ext cx="227658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sz="4000" dirty="0">
                <a:solidFill>
                  <a:schemeClr val="bg1"/>
                </a:solidFill>
                <a:latin typeface="Imprint MT Shadow" panose="04020605060303030202" pitchFamily="82" charset="0"/>
              </a:rPr>
              <a:t>Branchek</a:t>
            </a:r>
          </a:p>
        </p:txBody>
      </p:sp>
      <p:sp>
        <p:nvSpPr>
          <p:cNvPr id="8" name="Szövegdoboz 7"/>
          <p:cNvSpPr txBox="1"/>
          <p:nvPr/>
        </p:nvSpPr>
        <p:spPr>
          <a:xfrm>
            <a:off x="6516002" y="966682"/>
            <a:ext cx="4769467" cy="1815882"/>
          </a:xfrm>
          <a:prstGeom prst="rect">
            <a:avLst/>
          </a:prstGeom>
          <a:noFill/>
          <a:ln>
            <a:solidFill>
              <a:srgbClr val="302F34"/>
            </a:solidFill>
          </a:ln>
          <a:effectLst>
            <a:glow rad="101600">
              <a:srgbClr val="302F34">
                <a:alpha val="60000"/>
              </a:srgbClr>
            </a:glow>
          </a:effectLst>
        </p:spPr>
        <p:txBody>
          <a:bodyPr wrap="square" rtlCol="0">
            <a:spAutoFit/>
          </a:bodyPr>
          <a:lstStyle/>
          <a:p>
            <a:r>
              <a:rPr lang="hu-HU" sz="2800" dirty="0">
                <a:solidFill>
                  <a:schemeClr val="bg1"/>
                </a:solidFill>
                <a:latin typeface="Imprint MT Shadow" panose="04020605060303030202" pitchFamily="82" charset="0"/>
              </a:rPr>
              <a:t>A Frontendbe a Backendbe és az Adatbázisban dolgozunk a legtöbbet itt találhatóak a legtöbb commitok is.</a:t>
            </a:r>
          </a:p>
        </p:txBody>
      </p:sp>
      <p:pic>
        <p:nvPicPr>
          <p:cNvPr id="5" name="Kép 4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1065" y="1704050"/>
            <a:ext cx="4899161" cy="2157028"/>
          </a:xfrm>
          <a:prstGeom prst="rect">
            <a:avLst/>
          </a:prstGeom>
        </p:spPr>
      </p:pic>
      <p:pic>
        <p:nvPicPr>
          <p:cNvPr id="7" name="Kép 6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7335" y="4292065"/>
            <a:ext cx="5817325" cy="2092787"/>
          </a:xfrm>
          <a:prstGeom prst="rect">
            <a:avLst/>
          </a:prstGeom>
        </p:spPr>
      </p:pic>
      <p:pic>
        <p:nvPicPr>
          <p:cNvPr id="11" name="Kép 10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16002" y="3221049"/>
            <a:ext cx="5516375" cy="34532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601827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xmlns="" Requires="p159">
      <p:transition xmlns:p14="http://schemas.microsoft.com/office/powerpoint/2010/main" spd="slow" p14:dur="125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4008" y="0"/>
            <a:ext cx="12256008" cy="6858000"/>
          </a:xfrm>
          <a:prstGeom prst="rect">
            <a:avLst/>
          </a:prstGeom>
        </p:spPr>
      </p:pic>
      <p:pic>
        <p:nvPicPr>
          <p:cNvPr id="2" name="Kép 1"/>
          <p:cNvPicPr>
            <a:picLocks noChangeAspect="1"/>
          </p:cNvPicPr>
          <p:nvPr/>
        </p:nvPicPr>
        <p:blipFill rotWithShape="1">
          <a:blip r:embed="rId3"/>
          <a:srcRect l="22851"/>
          <a:stretch/>
        </p:blipFill>
        <p:spPr>
          <a:xfrm>
            <a:off x="-64007" y="-411305"/>
            <a:ext cx="3557546" cy="2337759"/>
          </a:xfrm>
          <a:prstGeom prst="rect">
            <a:avLst/>
          </a:prstGeom>
        </p:spPr>
      </p:pic>
      <p:sp>
        <p:nvSpPr>
          <p:cNvPr id="3" name="Szövegdoboz 2">
            <a:extLst>
              <a:ext uri="{FF2B5EF4-FFF2-40B4-BE49-F238E27FC236}">
                <a16:creationId xmlns:a16="http://schemas.microsoft.com/office/drawing/2014/main" id="{60903002-9ADB-45DF-AEED-82C64991DA36}"/>
              </a:ext>
            </a:extLst>
          </p:cNvPr>
          <p:cNvSpPr txBox="1"/>
          <p:nvPr/>
        </p:nvSpPr>
        <p:spPr>
          <a:xfrm>
            <a:off x="134528" y="342340"/>
            <a:ext cx="227658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sz="4000" dirty="0">
                <a:solidFill>
                  <a:schemeClr val="bg1"/>
                </a:solidFill>
                <a:latin typeface="Imprint MT Shadow" panose="04020605060303030202" pitchFamily="82" charset="0"/>
              </a:rPr>
              <a:t>Branchek</a:t>
            </a:r>
          </a:p>
        </p:txBody>
      </p:sp>
      <p:sp>
        <p:nvSpPr>
          <p:cNvPr id="8" name="Szövegdoboz 7"/>
          <p:cNvSpPr txBox="1"/>
          <p:nvPr/>
        </p:nvSpPr>
        <p:spPr>
          <a:xfrm>
            <a:off x="5226426" y="2269202"/>
            <a:ext cx="3401350" cy="1938992"/>
          </a:xfrm>
          <a:prstGeom prst="rect">
            <a:avLst/>
          </a:prstGeom>
          <a:noFill/>
          <a:ln>
            <a:solidFill>
              <a:srgbClr val="302F34"/>
            </a:solidFill>
          </a:ln>
          <a:effectLst>
            <a:glow rad="101600">
              <a:srgbClr val="302F34">
                <a:alpha val="60000"/>
              </a:srgbClr>
            </a:glow>
          </a:effectLst>
        </p:spPr>
        <p:txBody>
          <a:bodyPr wrap="square" rtlCol="0">
            <a:spAutoFit/>
          </a:bodyPr>
          <a:lstStyle/>
          <a:p>
            <a:r>
              <a:rPr lang="hu-HU" sz="2000" dirty="0">
                <a:solidFill>
                  <a:schemeClr val="bg1"/>
                </a:solidFill>
                <a:latin typeface="Imprint MT Shadow" panose="04020605060303030202" pitchFamily="82" charset="0"/>
              </a:rPr>
              <a:t>A Dokumentumok részben kevesebb commit található mivel munkáinkat inkább Trelloba tettük fel de GitHub-</a:t>
            </a:r>
            <a:r>
              <a:rPr lang="hu-HU" sz="2000" dirty="0" err="1">
                <a:solidFill>
                  <a:schemeClr val="bg1"/>
                </a:solidFill>
                <a:latin typeface="Imprint MT Shadow" panose="04020605060303030202" pitchFamily="82" charset="0"/>
              </a:rPr>
              <a:t>ra</a:t>
            </a:r>
            <a:r>
              <a:rPr lang="hu-HU" sz="2000" dirty="0">
                <a:solidFill>
                  <a:schemeClr val="bg1"/>
                </a:solidFill>
                <a:latin typeface="Imprint MT Shadow" panose="04020605060303030202" pitchFamily="82" charset="0"/>
              </a:rPr>
              <a:t> is elkezdtük feltenni őket.</a:t>
            </a:r>
          </a:p>
        </p:txBody>
      </p:sp>
      <p:pic>
        <p:nvPicPr>
          <p:cNvPr id="7" name="Kép 6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3546" r="80493" b="54493"/>
          <a:stretch/>
        </p:blipFill>
        <p:spPr>
          <a:xfrm>
            <a:off x="8366787" y="1458127"/>
            <a:ext cx="1962150" cy="581025"/>
          </a:xfrm>
          <a:prstGeom prst="rect">
            <a:avLst/>
          </a:prstGeom>
          <a:effectLst>
            <a:glow rad="63500">
              <a:schemeClr val="accent5">
                <a:satMod val="175000"/>
                <a:alpha val="40000"/>
              </a:schemeClr>
            </a:glow>
          </a:effectLst>
        </p:spPr>
      </p:pic>
      <p:pic>
        <p:nvPicPr>
          <p:cNvPr id="11" name="Kép 10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7841" t="30212" r="3787" b="56062"/>
          <a:stretch/>
        </p:blipFill>
        <p:spPr>
          <a:xfrm>
            <a:off x="9989646" y="2303789"/>
            <a:ext cx="1847850" cy="666750"/>
          </a:xfrm>
          <a:prstGeom prst="rect">
            <a:avLst/>
          </a:prstGeom>
          <a:effectLst>
            <a:glow rad="63500">
              <a:schemeClr val="accent5">
                <a:satMod val="175000"/>
                <a:alpha val="40000"/>
              </a:schemeClr>
            </a:glow>
          </a:effectLst>
        </p:spPr>
      </p:pic>
      <p:pic>
        <p:nvPicPr>
          <p:cNvPr id="12" name="Kép 1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805566" flipV="1">
            <a:off x="3370857" y="2430333"/>
            <a:ext cx="1779608" cy="1779608"/>
          </a:xfrm>
          <a:prstGeom prst="rect">
            <a:avLst/>
          </a:prstGeom>
        </p:spPr>
      </p:pic>
      <p:pic>
        <p:nvPicPr>
          <p:cNvPr id="13" name="Kép 12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7196487">
            <a:off x="8805557" y="2761595"/>
            <a:ext cx="1804346" cy="1804346"/>
          </a:xfrm>
          <a:prstGeom prst="rect">
            <a:avLst/>
          </a:prstGeom>
        </p:spPr>
      </p:pic>
      <p:pic>
        <p:nvPicPr>
          <p:cNvPr id="14" name="Kép 13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17369" y="5099755"/>
            <a:ext cx="2868173" cy="1909384"/>
          </a:xfrm>
          <a:prstGeom prst="rect">
            <a:avLst/>
          </a:prstGeom>
        </p:spPr>
      </p:pic>
      <p:pic>
        <p:nvPicPr>
          <p:cNvPr id="6" name="Kép 5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4249" y="3936944"/>
            <a:ext cx="4805719" cy="25781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521557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xmlns="" Requires="p159">
      <p:transition xmlns:p14="http://schemas.microsoft.com/office/powerpoint/2010/main" spd="slow" p14:dur="125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4008" y="0"/>
            <a:ext cx="12256008" cy="6858000"/>
          </a:xfrm>
          <a:prstGeom prst="rect">
            <a:avLst/>
          </a:prstGeom>
        </p:spPr>
      </p:pic>
      <p:pic>
        <p:nvPicPr>
          <p:cNvPr id="2" name="Kép 1"/>
          <p:cNvPicPr>
            <a:picLocks noChangeAspect="1"/>
          </p:cNvPicPr>
          <p:nvPr/>
        </p:nvPicPr>
        <p:blipFill rotWithShape="1">
          <a:blip r:embed="rId3"/>
          <a:srcRect l="22851"/>
          <a:stretch/>
        </p:blipFill>
        <p:spPr>
          <a:xfrm>
            <a:off x="-64007" y="-411305"/>
            <a:ext cx="3557546" cy="2337759"/>
          </a:xfrm>
          <a:prstGeom prst="rect">
            <a:avLst/>
          </a:prstGeom>
        </p:spPr>
      </p:pic>
      <p:sp>
        <p:nvSpPr>
          <p:cNvPr id="3" name="Szövegdoboz 2">
            <a:extLst>
              <a:ext uri="{FF2B5EF4-FFF2-40B4-BE49-F238E27FC236}">
                <a16:creationId xmlns:a16="http://schemas.microsoft.com/office/drawing/2014/main" id="{60903002-9ADB-45DF-AEED-82C64991DA36}"/>
              </a:ext>
            </a:extLst>
          </p:cNvPr>
          <p:cNvSpPr txBox="1"/>
          <p:nvPr/>
        </p:nvSpPr>
        <p:spPr>
          <a:xfrm>
            <a:off x="445247" y="403631"/>
            <a:ext cx="151515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sz="4000" dirty="0">
                <a:solidFill>
                  <a:schemeClr val="bg1"/>
                </a:solidFill>
                <a:latin typeface="Imprint MT Shadow" panose="04020605060303030202" pitchFamily="82" charset="0"/>
              </a:rPr>
              <a:t>Trello</a:t>
            </a:r>
          </a:p>
        </p:txBody>
      </p:sp>
      <p:pic>
        <p:nvPicPr>
          <p:cNvPr id="9" name="Kép 8">
            <a:extLst>
              <a:ext uri="{FF2B5EF4-FFF2-40B4-BE49-F238E27FC236}">
                <a16:creationId xmlns:a16="http://schemas.microsoft.com/office/drawing/2014/main" id="{983A5B9E-C728-4273-BDC2-FFA591957ADE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3782"/>
          <a:stretch/>
        </p:blipFill>
        <p:spPr>
          <a:xfrm>
            <a:off x="189801" y="1685598"/>
            <a:ext cx="4411087" cy="3245949"/>
          </a:xfrm>
          <a:prstGeom prst="rect">
            <a:avLst/>
          </a:prstGeom>
          <a:ln>
            <a:solidFill>
              <a:srgbClr val="333237"/>
            </a:solidFill>
          </a:ln>
          <a:effectLst>
            <a:glow rad="139700">
              <a:schemeClr val="accent5">
                <a:satMod val="175000"/>
                <a:alpha val="40000"/>
              </a:schemeClr>
            </a:glow>
          </a:effectLst>
        </p:spPr>
      </p:pic>
      <p:sp>
        <p:nvSpPr>
          <p:cNvPr id="5" name="Szövegdoboz 4">
            <a:extLst>
              <a:ext uri="{FF2B5EF4-FFF2-40B4-BE49-F238E27FC236}">
                <a16:creationId xmlns:a16="http://schemas.microsoft.com/office/drawing/2014/main" id="{9BFF4D4F-28AB-4BC8-8F56-B462A9B689E8}"/>
              </a:ext>
            </a:extLst>
          </p:cNvPr>
          <p:cNvSpPr txBox="1"/>
          <p:nvPr/>
        </p:nvSpPr>
        <p:spPr>
          <a:xfrm>
            <a:off x="6117956" y="682618"/>
            <a:ext cx="3449627" cy="1384995"/>
          </a:xfrm>
          <a:prstGeom prst="rect">
            <a:avLst/>
          </a:prstGeom>
          <a:noFill/>
          <a:ln>
            <a:solidFill>
              <a:srgbClr val="333237"/>
            </a:solidFill>
          </a:ln>
          <a:effectLst>
            <a:glow rad="101600">
              <a:srgbClr val="302F34">
                <a:alpha val="60000"/>
              </a:srgbClr>
            </a:glow>
          </a:effectLst>
        </p:spPr>
        <p:txBody>
          <a:bodyPr wrap="square" rtlCol="0">
            <a:spAutoFit/>
          </a:bodyPr>
          <a:lstStyle/>
          <a:p>
            <a:r>
              <a:rPr lang="hu-HU" sz="2800" dirty="0">
                <a:solidFill>
                  <a:schemeClr val="bg1"/>
                </a:solidFill>
                <a:latin typeface="Imprint MT Shadow" panose="04020605060303030202" pitchFamily="82" charset="0"/>
              </a:rPr>
              <a:t>Trelloba is feltettük munkáinkat szépen követhetően.</a:t>
            </a:r>
          </a:p>
        </p:txBody>
      </p:sp>
      <p:pic>
        <p:nvPicPr>
          <p:cNvPr id="7" name="Kép 6">
            <a:extLst>
              <a:ext uri="{FF2B5EF4-FFF2-40B4-BE49-F238E27FC236}">
                <a16:creationId xmlns:a16="http://schemas.microsoft.com/office/drawing/2014/main" id="{C22D2DC9-D94F-495F-9638-EFCAB08EA12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79641" y="2750231"/>
            <a:ext cx="6624829" cy="4047729"/>
          </a:xfrm>
          <a:prstGeom prst="rect">
            <a:avLst/>
          </a:prstGeom>
          <a:ln>
            <a:solidFill>
              <a:srgbClr val="002060"/>
            </a:solidFill>
          </a:ln>
          <a:effectLst>
            <a:glow rad="63500">
              <a:schemeClr val="accent5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340571116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xmlns="" Requires="p159">
      <p:transition xmlns:p14="http://schemas.microsoft.com/office/powerpoint/2010/main" spd="slow" p14:dur="125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4008" y="0"/>
            <a:ext cx="12256008" cy="6858000"/>
          </a:xfrm>
          <a:prstGeom prst="rect">
            <a:avLst/>
          </a:prstGeom>
        </p:spPr>
      </p:pic>
      <p:pic>
        <p:nvPicPr>
          <p:cNvPr id="2" name="Kép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68323" y="-536733"/>
            <a:ext cx="5471573" cy="2773906"/>
          </a:xfrm>
          <a:prstGeom prst="rect">
            <a:avLst/>
          </a:prstGeom>
        </p:spPr>
      </p:pic>
      <p:sp>
        <p:nvSpPr>
          <p:cNvPr id="3" name="Szövegdoboz 2">
            <a:extLst>
              <a:ext uri="{FF2B5EF4-FFF2-40B4-BE49-F238E27FC236}">
                <a16:creationId xmlns:a16="http://schemas.microsoft.com/office/drawing/2014/main" id="{291870F6-6391-411F-8894-048A48763A4D}"/>
              </a:ext>
            </a:extLst>
          </p:cNvPr>
          <p:cNvSpPr txBox="1"/>
          <p:nvPr/>
        </p:nvSpPr>
        <p:spPr>
          <a:xfrm>
            <a:off x="0" y="154341"/>
            <a:ext cx="413699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3200" dirty="0">
                <a:solidFill>
                  <a:schemeClr val="bg1"/>
                </a:solidFill>
                <a:latin typeface="Imprint MT Shadow" panose="04020605060303030202" pitchFamily="82" charset="0"/>
              </a:rPr>
              <a:t>Felhasználónevek</a:t>
            </a:r>
          </a:p>
        </p:txBody>
      </p:sp>
      <p:sp>
        <p:nvSpPr>
          <p:cNvPr id="5" name="Szövegdoboz 4">
            <a:extLst>
              <a:ext uri="{FF2B5EF4-FFF2-40B4-BE49-F238E27FC236}">
                <a16:creationId xmlns:a16="http://schemas.microsoft.com/office/drawing/2014/main" id="{A733B3AE-4B76-4642-AD24-B62D4B663835}"/>
              </a:ext>
            </a:extLst>
          </p:cNvPr>
          <p:cNvSpPr txBox="1"/>
          <p:nvPr/>
        </p:nvSpPr>
        <p:spPr>
          <a:xfrm>
            <a:off x="1944209" y="863403"/>
            <a:ext cx="362209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3200" dirty="0">
                <a:solidFill>
                  <a:schemeClr val="bg1"/>
                </a:solidFill>
                <a:latin typeface="Imprint MT Shadow" panose="04020605060303030202" pitchFamily="82" charset="0"/>
              </a:rPr>
              <a:t>és jelszavak</a:t>
            </a:r>
          </a:p>
        </p:txBody>
      </p:sp>
      <p:pic>
        <p:nvPicPr>
          <p:cNvPr id="7" name="Kép 6">
            <a:extLst>
              <a:ext uri="{FF2B5EF4-FFF2-40B4-BE49-F238E27FC236}">
                <a16:creationId xmlns:a16="http://schemas.microsoft.com/office/drawing/2014/main" id="{F8C7A0A0-51E7-411A-8751-CC315338D45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53463" y="1782621"/>
            <a:ext cx="7191432" cy="1982570"/>
          </a:xfrm>
          <a:prstGeom prst="rect">
            <a:avLst/>
          </a:prstGeom>
          <a:ln>
            <a:solidFill>
              <a:srgbClr val="002060"/>
            </a:solidFill>
          </a:ln>
          <a:effectLst>
            <a:glow rad="63500">
              <a:schemeClr val="accent5">
                <a:satMod val="175000"/>
                <a:alpha val="40000"/>
              </a:schemeClr>
            </a:glow>
          </a:effectLst>
        </p:spPr>
      </p:pic>
      <p:sp>
        <p:nvSpPr>
          <p:cNvPr id="8" name="Szövegdoboz 7">
            <a:extLst>
              <a:ext uri="{FF2B5EF4-FFF2-40B4-BE49-F238E27FC236}">
                <a16:creationId xmlns:a16="http://schemas.microsoft.com/office/drawing/2014/main" id="{F800C2D4-6487-446F-830E-AFF21BEC6951}"/>
              </a:ext>
            </a:extLst>
          </p:cNvPr>
          <p:cNvSpPr txBox="1"/>
          <p:nvPr/>
        </p:nvSpPr>
        <p:spPr>
          <a:xfrm>
            <a:off x="441262" y="4385527"/>
            <a:ext cx="4572000" cy="1938992"/>
          </a:xfrm>
          <a:prstGeom prst="rect">
            <a:avLst/>
          </a:prstGeom>
          <a:noFill/>
          <a:ln>
            <a:solidFill>
              <a:srgbClr val="333237"/>
            </a:solidFill>
          </a:ln>
          <a:effectLst>
            <a:glow rad="101600">
              <a:srgbClr val="302F34">
                <a:alpha val="60000"/>
              </a:srgbClr>
            </a:glow>
          </a:effectLst>
        </p:spPr>
        <p:txBody>
          <a:bodyPr wrap="square" rtlCol="0">
            <a:spAutoFit/>
          </a:bodyPr>
          <a:lstStyle/>
          <a:p>
            <a:r>
              <a:rPr lang="hu-HU" sz="2400" dirty="0">
                <a:solidFill>
                  <a:schemeClr val="bg1"/>
                </a:solidFill>
                <a:latin typeface="Imprint MT Shadow" panose="04020605060303030202" pitchFamily="82" charset="0"/>
              </a:rPr>
              <a:t>A Frontend branchen található egy falhasználók.txt-ben. 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hu-HU" sz="2400" dirty="0">
                <a:solidFill>
                  <a:schemeClr val="bg1"/>
                </a:solidFill>
                <a:latin typeface="Imprint MT Shadow" panose="04020605060303030202" pitchFamily="82" charset="0"/>
              </a:rPr>
              <a:t>Felhasználónevek,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hu-HU" sz="2400" dirty="0">
                <a:solidFill>
                  <a:schemeClr val="bg1"/>
                </a:solidFill>
                <a:latin typeface="Imprint MT Shadow" panose="04020605060303030202" pitchFamily="82" charset="0"/>
              </a:rPr>
              <a:t>Jelszavak,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hu-HU" sz="2400" dirty="0">
                <a:solidFill>
                  <a:schemeClr val="bg1"/>
                </a:solidFill>
                <a:latin typeface="Imprint MT Shadow" panose="04020605060303030202" pitchFamily="82" charset="0"/>
              </a:rPr>
              <a:t>Szerepkörök.</a:t>
            </a:r>
          </a:p>
        </p:txBody>
      </p:sp>
      <p:pic>
        <p:nvPicPr>
          <p:cNvPr id="9" name="Kép 8">
            <a:extLst>
              <a:ext uri="{FF2B5EF4-FFF2-40B4-BE49-F238E27FC236}">
                <a16:creationId xmlns:a16="http://schemas.microsoft.com/office/drawing/2014/main" id="{A3433AC9-9F2B-4374-9910-EA3D5BC8A50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21384760">
            <a:off x="2682265" y="2352962"/>
            <a:ext cx="2145978" cy="21520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9415157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wind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4008" y="0"/>
            <a:ext cx="12256008" cy="6858000"/>
          </a:xfrm>
          <a:prstGeom prst="rect">
            <a:avLst/>
          </a:prstGeom>
        </p:spPr>
      </p:pic>
      <p:pic>
        <p:nvPicPr>
          <p:cNvPr id="2" name="Kép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59445" y="-483467"/>
            <a:ext cx="5549772" cy="2813550"/>
          </a:xfrm>
          <a:prstGeom prst="rect">
            <a:avLst/>
          </a:prstGeom>
        </p:spPr>
      </p:pic>
      <p:sp>
        <p:nvSpPr>
          <p:cNvPr id="3" name="Szövegdoboz 2">
            <a:extLst>
              <a:ext uri="{FF2B5EF4-FFF2-40B4-BE49-F238E27FC236}">
                <a16:creationId xmlns:a16="http://schemas.microsoft.com/office/drawing/2014/main" id="{A17CE809-AB2C-45C2-9785-01E9289E7359}"/>
              </a:ext>
            </a:extLst>
          </p:cNvPr>
          <p:cNvSpPr txBox="1"/>
          <p:nvPr/>
        </p:nvSpPr>
        <p:spPr>
          <a:xfrm>
            <a:off x="0" y="209773"/>
            <a:ext cx="490561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3200" dirty="0">
                <a:solidFill>
                  <a:schemeClr val="bg1"/>
                </a:solidFill>
                <a:latin typeface="Imprint MT Shadow" panose="04020605060303030202" pitchFamily="82" charset="0"/>
              </a:rPr>
              <a:t>A Kezdetleges Frontend</a:t>
            </a: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432A53A9-4670-4FC5-8241-B9040FC0414A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3279"/>
          <a:stretch/>
        </p:blipFill>
        <p:spPr>
          <a:xfrm>
            <a:off x="216231" y="2203713"/>
            <a:ext cx="6984192" cy="3878781"/>
          </a:xfrm>
          <a:prstGeom prst="rect">
            <a:avLst/>
          </a:prstGeom>
          <a:ln w="19050">
            <a:solidFill>
              <a:srgbClr val="92D050"/>
            </a:solidFill>
          </a:ln>
          <a:effectLst>
            <a:glow rad="139700">
              <a:schemeClr val="accent5">
                <a:satMod val="175000"/>
                <a:alpha val="40000"/>
              </a:schemeClr>
            </a:glow>
          </a:effectLst>
        </p:spPr>
      </p:pic>
      <p:sp>
        <p:nvSpPr>
          <p:cNvPr id="7" name="Szövegdoboz 6"/>
          <p:cNvSpPr txBox="1"/>
          <p:nvPr/>
        </p:nvSpPr>
        <p:spPr>
          <a:xfrm>
            <a:off x="234858" y="914524"/>
            <a:ext cx="362843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3600" dirty="0">
                <a:solidFill>
                  <a:schemeClr val="bg1"/>
                </a:solidFill>
                <a:latin typeface="Imprint MT Shadow" panose="04020605060303030202" pitchFamily="82" charset="0"/>
              </a:rPr>
              <a:t>Kódja és kinézete</a:t>
            </a:r>
          </a:p>
        </p:txBody>
      </p:sp>
      <p:sp>
        <p:nvSpPr>
          <p:cNvPr id="9" name="Szövegdoboz 8"/>
          <p:cNvSpPr txBox="1"/>
          <p:nvPr/>
        </p:nvSpPr>
        <p:spPr>
          <a:xfrm>
            <a:off x="7480662" y="2644031"/>
            <a:ext cx="4014652" cy="2677656"/>
          </a:xfrm>
          <a:prstGeom prst="rect">
            <a:avLst/>
          </a:prstGeom>
          <a:noFill/>
          <a:ln>
            <a:solidFill>
              <a:srgbClr val="333237"/>
            </a:solidFill>
          </a:ln>
          <a:effectLst>
            <a:glow rad="101600">
              <a:srgbClr val="302F34">
                <a:alpha val="60000"/>
              </a:srgbClr>
            </a:glow>
          </a:effectLst>
        </p:spPr>
        <p:txBody>
          <a:bodyPr wrap="square" rtlCol="0">
            <a:spAutoFit/>
          </a:bodyPr>
          <a:lstStyle/>
          <a:p>
            <a:r>
              <a:rPr lang="hu-HU" sz="2800" dirty="0">
                <a:solidFill>
                  <a:schemeClr val="bg1"/>
                </a:solidFill>
                <a:latin typeface="Imprint MT Shadow" panose="04020605060303030202" pitchFamily="82" charset="0"/>
              </a:rPr>
              <a:t>Kezdetben így nézett ki a Frontend. </a:t>
            </a:r>
          </a:p>
          <a:p>
            <a:r>
              <a:rPr lang="hu-HU" sz="2800" dirty="0">
                <a:solidFill>
                  <a:schemeClr val="bg1"/>
                </a:solidFill>
                <a:latin typeface="Imprint MT Shadow" panose="04020605060303030202" pitchFamily="82" charset="0"/>
              </a:rPr>
              <a:t>Tartalmazott egy navigációt néhány menüponttal és semmi stílust nem tettünk bele</a:t>
            </a:r>
          </a:p>
        </p:txBody>
      </p:sp>
      <p:pic>
        <p:nvPicPr>
          <p:cNvPr id="10" name="Kép 9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00203" y="2067763"/>
            <a:ext cx="6888478" cy="4150679"/>
          </a:xfrm>
          <a:prstGeom prst="rect">
            <a:avLst/>
          </a:prstGeom>
          <a:effectLst>
            <a:glow rad="101600">
              <a:schemeClr val="accent5">
                <a:satMod val="175000"/>
                <a:alpha val="40000"/>
              </a:schemeClr>
            </a:glow>
          </a:effectLst>
        </p:spPr>
      </p:pic>
      <p:sp>
        <p:nvSpPr>
          <p:cNvPr id="11" name="Szövegdoboz 10"/>
          <p:cNvSpPr txBox="1"/>
          <p:nvPr/>
        </p:nvSpPr>
        <p:spPr>
          <a:xfrm>
            <a:off x="234858" y="2466031"/>
            <a:ext cx="4746089" cy="3539430"/>
          </a:xfrm>
          <a:prstGeom prst="rect">
            <a:avLst/>
          </a:prstGeom>
          <a:noFill/>
          <a:ln>
            <a:solidFill>
              <a:srgbClr val="302F34"/>
            </a:solidFill>
          </a:ln>
          <a:effectLst>
            <a:glow rad="101600">
              <a:srgbClr val="302F34">
                <a:alpha val="60000"/>
              </a:srgbClr>
            </a:glow>
          </a:effectLst>
        </p:spPr>
        <p:txBody>
          <a:bodyPr wrap="square" rtlCol="0">
            <a:spAutoFit/>
          </a:bodyPr>
          <a:lstStyle/>
          <a:p>
            <a:r>
              <a:rPr lang="hu-HU" sz="3200" dirty="0">
                <a:solidFill>
                  <a:schemeClr val="bg1"/>
                </a:solidFill>
                <a:latin typeface="Imprint MT Shadow" panose="04020605060303030202" pitchFamily="82" charset="0"/>
              </a:rPr>
              <a:t>A Frontend kezdetleges kódja egy szimpla index.html be készült. Nagyon kicsi stílussal és script amik arra szolgáltak, hogy tesztelhessük a kód működését</a:t>
            </a:r>
          </a:p>
        </p:txBody>
      </p:sp>
    </p:spTree>
    <p:extLst>
      <p:ext uri="{BB962C8B-B14F-4D97-AF65-F5344CB8AC3E}">
        <p14:creationId xmlns:p14="http://schemas.microsoft.com/office/powerpoint/2010/main" val="863322776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1250">
        <p15:prstTrans prst="airplane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xit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6" dur="5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2" presetClass="exit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10" dur="5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1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4008" y="0"/>
            <a:ext cx="12256008" cy="6858000"/>
          </a:xfrm>
          <a:prstGeom prst="rect">
            <a:avLst/>
          </a:prstGeom>
        </p:spPr>
      </p:pic>
      <p:pic>
        <p:nvPicPr>
          <p:cNvPr id="2" name="Kép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32813" y="-403568"/>
            <a:ext cx="4648539" cy="2356655"/>
          </a:xfrm>
          <a:prstGeom prst="rect">
            <a:avLst/>
          </a:prstGeom>
        </p:spPr>
      </p:pic>
      <p:sp>
        <p:nvSpPr>
          <p:cNvPr id="3" name="Szövegdoboz 2">
            <a:extLst>
              <a:ext uri="{FF2B5EF4-FFF2-40B4-BE49-F238E27FC236}">
                <a16:creationId xmlns:a16="http://schemas.microsoft.com/office/drawing/2014/main" id="{7A2003BB-DD81-4263-9D62-44C100A9CB1E}"/>
              </a:ext>
            </a:extLst>
          </p:cNvPr>
          <p:cNvSpPr txBox="1"/>
          <p:nvPr/>
        </p:nvSpPr>
        <p:spPr>
          <a:xfrm>
            <a:off x="0" y="172136"/>
            <a:ext cx="379964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800" dirty="0">
                <a:solidFill>
                  <a:schemeClr val="bg1"/>
                </a:solidFill>
                <a:latin typeface="Imprint MT Shadow" panose="04020605060303030202" pitchFamily="82" charset="0"/>
              </a:rPr>
              <a:t>A backend kezdetleges végpontjai</a:t>
            </a:r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76835258-9ED8-44E1-AB14-9FB1C3A15DC5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927" r="3723"/>
          <a:stretch/>
        </p:blipFill>
        <p:spPr>
          <a:xfrm>
            <a:off x="189053" y="2204881"/>
            <a:ext cx="7349914" cy="3574481"/>
          </a:xfrm>
          <a:prstGeom prst="rect">
            <a:avLst/>
          </a:prstGeom>
          <a:effectLst>
            <a:glow rad="139700">
              <a:schemeClr val="accent5">
                <a:satMod val="175000"/>
                <a:alpha val="40000"/>
              </a:schemeClr>
            </a:glow>
          </a:effectLst>
        </p:spPr>
      </p:pic>
      <p:sp>
        <p:nvSpPr>
          <p:cNvPr id="5" name="Szövegdoboz 4"/>
          <p:cNvSpPr txBox="1"/>
          <p:nvPr/>
        </p:nvSpPr>
        <p:spPr>
          <a:xfrm>
            <a:off x="7916091" y="2654481"/>
            <a:ext cx="3091543" cy="2554545"/>
          </a:xfrm>
          <a:prstGeom prst="rect">
            <a:avLst/>
          </a:prstGeom>
          <a:noFill/>
          <a:ln>
            <a:solidFill>
              <a:srgbClr val="302F34"/>
            </a:solidFill>
          </a:ln>
          <a:effectLst>
            <a:glow rad="101600">
              <a:srgbClr val="302F34">
                <a:alpha val="60000"/>
              </a:srgbClr>
            </a:glow>
          </a:effectLst>
        </p:spPr>
        <p:txBody>
          <a:bodyPr wrap="square" rtlCol="0">
            <a:spAutoFit/>
          </a:bodyPr>
          <a:lstStyle/>
          <a:p>
            <a:r>
              <a:rPr lang="hu-HU" sz="3200" dirty="0">
                <a:solidFill>
                  <a:schemeClr val="bg1"/>
                </a:solidFill>
                <a:latin typeface="Imprint MT Shadow" panose="04020605060303030202" pitchFamily="82" charset="0"/>
              </a:rPr>
              <a:t>Itt a Backendbe az általunk 5 nagyon fontos végpontok találhatóak meg</a:t>
            </a:r>
          </a:p>
        </p:txBody>
      </p:sp>
    </p:spTree>
    <p:extLst>
      <p:ext uri="{BB962C8B-B14F-4D97-AF65-F5344CB8AC3E}">
        <p14:creationId xmlns:p14="http://schemas.microsoft.com/office/powerpoint/2010/main" val="837542327"/>
      </p:ext>
    </p:extLst>
  </p:cSld>
  <p:clrMapOvr>
    <a:masterClrMapping/>
  </p:clrMapOvr>
  <p:transition>
    <p:push/>
  </p:transition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4008" y="0"/>
            <a:ext cx="12256008" cy="6858000"/>
          </a:xfrm>
          <a:prstGeom prst="rect">
            <a:avLst/>
          </a:prstGeom>
        </p:spPr>
      </p:pic>
      <p:pic>
        <p:nvPicPr>
          <p:cNvPr id="2" name="Kép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32813" y="-403568"/>
            <a:ext cx="4648539" cy="2356655"/>
          </a:xfrm>
          <a:prstGeom prst="rect">
            <a:avLst/>
          </a:prstGeom>
        </p:spPr>
      </p:pic>
      <p:sp>
        <p:nvSpPr>
          <p:cNvPr id="3" name="Szövegdoboz 2">
            <a:extLst>
              <a:ext uri="{FF2B5EF4-FFF2-40B4-BE49-F238E27FC236}">
                <a16:creationId xmlns:a16="http://schemas.microsoft.com/office/drawing/2014/main" id="{7A2003BB-DD81-4263-9D62-44C100A9CB1E}"/>
              </a:ext>
            </a:extLst>
          </p:cNvPr>
          <p:cNvSpPr txBox="1"/>
          <p:nvPr/>
        </p:nvSpPr>
        <p:spPr>
          <a:xfrm>
            <a:off x="623454" y="420816"/>
            <a:ext cx="379964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4000" dirty="0" smtClean="0">
                <a:solidFill>
                  <a:schemeClr val="bg1"/>
                </a:solidFill>
                <a:latin typeface="Imprint MT Shadow" panose="04020605060303030202" pitchFamily="82" charset="0"/>
              </a:rPr>
              <a:t>A </a:t>
            </a:r>
            <a:r>
              <a:rPr lang="hu-HU" sz="4000" dirty="0" err="1" smtClean="0">
                <a:solidFill>
                  <a:schemeClr val="bg1"/>
                </a:solidFill>
                <a:latin typeface="Imprint MT Shadow" panose="04020605060303030202" pitchFamily="82" charset="0"/>
              </a:rPr>
              <a:t>favicon</a:t>
            </a:r>
            <a:endParaRPr lang="hu-HU" sz="4000" dirty="0">
              <a:solidFill>
                <a:schemeClr val="bg1"/>
              </a:solidFill>
              <a:latin typeface="Imprint MT Shadow" panose="04020605060303030202" pitchFamily="82" charset="0"/>
            </a:endParaRPr>
          </a:p>
        </p:txBody>
      </p:sp>
      <p:sp>
        <p:nvSpPr>
          <p:cNvPr id="5" name="Szövegdoboz 4"/>
          <p:cNvSpPr txBox="1"/>
          <p:nvPr/>
        </p:nvSpPr>
        <p:spPr>
          <a:xfrm>
            <a:off x="7916091" y="2654481"/>
            <a:ext cx="3091543" cy="1569660"/>
          </a:xfrm>
          <a:prstGeom prst="rect">
            <a:avLst/>
          </a:prstGeom>
          <a:noFill/>
          <a:ln>
            <a:solidFill>
              <a:srgbClr val="302F34"/>
            </a:solidFill>
          </a:ln>
          <a:effectLst>
            <a:glow rad="101600">
              <a:srgbClr val="302F34">
                <a:alpha val="60000"/>
              </a:srgbClr>
            </a:glow>
          </a:effectLst>
        </p:spPr>
        <p:txBody>
          <a:bodyPr wrap="square" rtlCol="0">
            <a:spAutoFit/>
          </a:bodyPr>
          <a:lstStyle/>
          <a:p>
            <a:r>
              <a:rPr lang="hu-HU" sz="3200" dirty="0" smtClean="0">
                <a:solidFill>
                  <a:schemeClr val="bg1"/>
                </a:solidFill>
                <a:latin typeface="Imprint MT Shadow" panose="04020605060303030202" pitchFamily="82" charset="0"/>
              </a:rPr>
              <a:t>A </a:t>
            </a:r>
            <a:r>
              <a:rPr lang="hu-HU" sz="3200" dirty="0" err="1" smtClean="0">
                <a:solidFill>
                  <a:schemeClr val="bg1"/>
                </a:solidFill>
                <a:latin typeface="Imprint MT Shadow" panose="04020605060303030202" pitchFamily="82" charset="0"/>
              </a:rPr>
              <a:t>favicont</a:t>
            </a:r>
            <a:r>
              <a:rPr lang="hu-HU" sz="3200" dirty="0">
                <a:solidFill>
                  <a:schemeClr val="bg1"/>
                </a:solidFill>
                <a:latin typeface="Imprint MT Shadow" panose="04020605060303030202" pitchFamily="82" charset="0"/>
              </a:rPr>
              <a:t> </a:t>
            </a:r>
            <a:r>
              <a:rPr lang="hu-HU" sz="3200" dirty="0" smtClean="0">
                <a:solidFill>
                  <a:schemeClr val="bg1"/>
                </a:solidFill>
                <a:latin typeface="Imprint MT Shadow" panose="04020605060303030202" pitchFamily="82" charset="0"/>
              </a:rPr>
              <a:t>egyszerű volt megoldani</a:t>
            </a:r>
            <a:endParaRPr lang="hu-HU" sz="3200" dirty="0">
              <a:solidFill>
                <a:schemeClr val="bg1"/>
              </a:solidFill>
              <a:latin typeface="Imprint MT Shadow" panose="04020605060303030202" pitchFamily="82" charset="0"/>
            </a:endParaRPr>
          </a:p>
        </p:txBody>
      </p:sp>
      <p:pic>
        <p:nvPicPr>
          <p:cNvPr id="7" name="Kép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25996" y="2243266"/>
            <a:ext cx="4215942" cy="2371468"/>
          </a:xfrm>
          <a:prstGeom prst="rect">
            <a:avLst/>
          </a:prstGeom>
          <a:effectLst>
            <a:outerShdw blurRad="50800" dist="50800" dir="5400000" sx="102000" sy="102000" algn="ctr" rotWithShape="0">
              <a:schemeClr val="accent1">
                <a:lumMod val="75000"/>
              </a:schemeClr>
            </a:outerShdw>
          </a:effectLst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0B92F6A3-2A3A-4390-A1BE-6A161CE25F2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0800000">
            <a:off x="5445357" y="2779264"/>
            <a:ext cx="2572735" cy="14448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99435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800">
        <p:circle/>
      </p:transition>
    </mc:Choice>
    <mc:Fallback>
      <p:transition spd="slow">
        <p:circle/>
      </p:transition>
    </mc:Fallback>
  </mc:AlternateContent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4008" y="0"/>
            <a:ext cx="12256008" cy="6858000"/>
          </a:xfrm>
          <a:prstGeom prst="rect">
            <a:avLst/>
          </a:prstGeom>
        </p:spPr>
      </p:pic>
      <p:pic>
        <p:nvPicPr>
          <p:cNvPr id="2" name="Kép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50305" y="-359867"/>
            <a:ext cx="3566255" cy="2072290"/>
          </a:xfrm>
          <a:prstGeom prst="rect">
            <a:avLst/>
          </a:prstGeom>
        </p:spPr>
      </p:pic>
      <p:sp>
        <p:nvSpPr>
          <p:cNvPr id="3" name="Szövegdoboz 2"/>
          <p:cNvSpPr txBox="1"/>
          <p:nvPr/>
        </p:nvSpPr>
        <p:spPr>
          <a:xfrm>
            <a:off x="-914981" y="178091"/>
            <a:ext cx="420624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4400" dirty="0">
                <a:solidFill>
                  <a:schemeClr val="bg1"/>
                </a:solidFill>
                <a:latin typeface="Imprint MT Shadow" panose="04020605060303030202" pitchFamily="82" charset="0"/>
              </a:rPr>
              <a:t>Főoldal</a:t>
            </a:r>
          </a:p>
        </p:txBody>
      </p:sp>
      <p:pic>
        <p:nvPicPr>
          <p:cNvPr id="8" name="Kép 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750" y="1512186"/>
            <a:ext cx="5760224" cy="3191361"/>
          </a:xfrm>
          <a:prstGeom prst="rect">
            <a:avLst/>
          </a:prstGeom>
          <a:ln>
            <a:solidFill>
              <a:schemeClr val="accent1">
                <a:lumMod val="50000"/>
              </a:schemeClr>
            </a:solidFill>
          </a:ln>
          <a:effectLst>
            <a:glow rad="63500">
              <a:schemeClr val="accent5">
                <a:satMod val="175000"/>
                <a:alpha val="40000"/>
              </a:schemeClr>
            </a:glow>
          </a:effectLst>
        </p:spPr>
      </p:pic>
      <p:pic>
        <p:nvPicPr>
          <p:cNvPr id="12" name="Kép 11">
            <a:extLst>
              <a:ext uri="{FF2B5EF4-FFF2-40B4-BE49-F238E27FC236}">
                <a16:creationId xmlns:a16="http://schemas.microsoft.com/office/drawing/2014/main" id="{F0068CF7-2E47-4C60-A44E-956F0C09E642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235568">
            <a:off x="5688446" y="2026827"/>
            <a:ext cx="2097918" cy="1180079"/>
          </a:xfrm>
          <a:prstGeom prst="rect">
            <a:avLst/>
          </a:prstGeom>
        </p:spPr>
      </p:pic>
      <p:pic>
        <p:nvPicPr>
          <p:cNvPr id="13" name="Kép 12">
            <a:extLst>
              <a:ext uri="{FF2B5EF4-FFF2-40B4-BE49-F238E27FC236}">
                <a16:creationId xmlns:a16="http://schemas.microsoft.com/office/drawing/2014/main" id="{0510F6C7-8B97-4424-B0AF-0C56D254DAB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34545" y="3564138"/>
            <a:ext cx="5879865" cy="3293862"/>
          </a:xfrm>
          <a:prstGeom prst="rect">
            <a:avLst/>
          </a:prstGeom>
          <a:ln>
            <a:solidFill>
              <a:srgbClr val="002060"/>
            </a:solidFill>
          </a:ln>
          <a:effectLst>
            <a:glow rad="63500">
              <a:schemeClr val="accent5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1140947743"/>
      </p:ext>
    </p:extLst>
  </p:cSld>
  <p:clrMapOvr>
    <a:masterClrMapping/>
  </p:clrMapOvr>
  <p:transition>
    <p:push/>
  </p:transition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4008" y="0"/>
            <a:ext cx="12256008" cy="6858000"/>
          </a:xfrm>
          <a:prstGeom prst="rect">
            <a:avLst/>
          </a:prstGeom>
        </p:spPr>
      </p:pic>
      <p:pic>
        <p:nvPicPr>
          <p:cNvPr id="2" name="Kép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30459" y="-363528"/>
            <a:ext cx="4086182" cy="2374411"/>
          </a:xfrm>
          <a:prstGeom prst="rect">
            <a:avLst/>
          </a:prstGeom>
        </p:spPr>
      </p:pic>
      <p:sp>
        <p:nvSpPr>
          <p:cNvPr id="3" name="Szövegdoboz 2"/>
          <p:cNvSpPr txBox="1"/>
          <p:nvPr/>
        </p:nvSpPr>
        <p:spPr>
          <a:xfrm>
            <a:off x="-461641" y="259074"/>
            <a:ext cx="420624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3200" dirty="0">
                <a:solidFill>
                  <a:schemeClr val="bg1"/>
                </a:solidFill>
                <a:latin typeface="Imprint MT Shadow" panose="04020605060303030202" pitchFamily="82" charset="0"/>
              </a:rPr>
              <a:t>Bejelentkezés és regisztráció</a:t>
            </a:r>
          </a:p>
        </p:txBody>
      </p:sp>
      <p:pic>
        <p:nvPicPr>
          <p:cNvPr id="9" name="Kép 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911" y="2443165"/>
            <a:ext cx="4943606" cy="2766703"/>
          </a:xfrm>
          <a:prstGeom prst="rect">
            <a:avLst/>
          </a:prstGeom>
          <a:ln>
            <a:solidFill>
              <a:schemeClr val="accent1">
                <a:lumMod val="50000"/>
              </a:schemeClr>
            </a:solidFill>
          </a:ln>
          <a:effectLst>
            <a:glow rad="63500">
              <a:schemeClr val="accent5">
                <a:satMod val="175000"/>
                <a:alpha val="40000"/>
              </a:schemeClr>
            </a:glow>
          </a:effectLst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79551A39-149A-463F-A7AB-F737439A9D8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27548" y="2879634"/>
            <a:ext cx="2376945" cy="1334919"/>
          </a:xfrm>
          <a:prstGeom prst="rect">
            <a:avLst/>
          </a:prstGeom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055724FA-A04D-412C-9403-C83AE356691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05291" y="259074"/>
            <a:ext cx="5286975" cy="2951467"/>
          </a:xfrm>
          <a:prstGeom prst="rect">
            <a:avLst/>
          </a:prstGeom>
          <a:ln>
            <a:solidFill>
              <a:srgbClr val="002060"/>
            </a:solidFill>
          </a:ln>
          <a:effectLst>
            <a:glow rad="63500">
              <a:schemeClr val="accent5">
                <a:satMod val="175000"/>
                <a:alpha val="40000"/>
              </a:schemeClr>
            </a:glow>
          </a:effectLst>
        </p:spPr>
      </p:pic>
      <p:pic>
        <p:nvPicPr>
          <p:cNvPr id="10" name="Kép 9">
            <a:extLst>
              <a:ext uri="{FF2B5EF4-FFF2-40B4-BE49-F238E27FC236}">
                <a16:creationId xmlns:a16="http://schemas.microsoft.com/office/drawing/2014/main" id="{A38731FA-D5C1-415D-9982-7F8C64E4178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39197" y="3678049"/>
            <a:ext cx="5253069" cy="2927625"/>
          </a:xfrm>
          <a:prstGeom prst="rect">
            <a:avLst/>
          </a:prstGeom>
          <a:ln>
            <a:solidFill>
              <a:srgbClr val="002060"/>
            </a:solidFill>
          </a:ln>
          <a:effectLst>
            <a:glow rad="63500">
              <a:schemeClr val="accent5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1600889108"/>
      </p:ext>
    </p:extLst>
  </p:cSld>
  <p:clrMapOvr>
    <a:masterClrMapping/>
  </p:clrMapOvr>
  <p:transition>
    <p:cover/>
  </p:transition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4008" y="0"/>
            <a:ext cx="12256008" cy="6858000"/>
          </a:xfrm>
          <a:prstGeom prst="rect">
            <a:avLst/>
          </a:prstGeom>
        </p:spPr>
      </p:pic>
      <p:pic>
        <p:nvPicPr>
          <p:cNvPr id="2" name="Kép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41862" y="-343813"/>
            <a:ext cx="4344585" cy="2331145"/>
          </a:xfrm>
          <a:prstGeom prst="rect">
            <a:avLst/>
          </a:prstGeom>
        </p:spPr>
      </p:pic>
      <p:sp>
        <p:nvSpPr>
          <p:cNvPr id="3" name="Szövegdoboz 2"/>
          <p:cNvSpPr txBox="1"/>
          <p:nvPr/>
        </p:nvSpPr>
        <p:spPr>
          <a:xfrm>
            <a:off x="-75732" y="562779"/>
            <a:ext cx="5688624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200" dirty="0">
                <a:solidFill>
                  <a:schemeClr val="bg1"/>
                </a:solidFill>
                <a:latin typeface="Imprint MT Shadow" panose="04020605060303030202" pitchFamily="82" charset="0"/>
              </a:rPr>
              <a:t>Bejelentkezés/Regisztráció</a:t>
            </a:r>
          </a:p>
        </p:txBody>
      </p:sp>
      <p:pic>
        <p:nvPicPr>
          <p:cNvPr id="6" name="Kép 5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28" r="2361" b="5712"/>
          <a:stretch/>
        </p:blipFill>
        <p:spPr>
          <a:xfrm>
            <a:off x="232000" y="4139862"/>
            <a:ext cx="8655531" cy="2357653"/>
          </a:xfrm>
          <a:prstGeom prst="rect">
            <a:avLst/>
          </a:prstGeom>
          <a:ln>
            <a:solidFill>
              <a:srgbClr val="002060"/>
            </a:solidFill>
          </a:ln>
          <a:effectLst>
            <a:glow rad="63500">
              <a:schemeClr val="accent5">
                <a:satMod val="175000"/>
                <a:alpha val="40000"/>
              </a:schemeClr>
            </a:glow>
          </a:effectLst>
        </p:spPr>
      </p:pic>
      <p:pic>
        <p:nvPicPr>
          <p:cNvPr id="7" name="Kép 6"/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368" b="3798"/>
          <a:stretch/>
        </p:blipFill>
        <p:spPr>
          <a:xfrm>
            <a:off x="5312063" y="298699"/>
            <a:ext cx="6694146" cy="3377266"/>
          </a:xfrm>
          <a:prstGeom prst="rect">
            <a:avLst/>
          </a:prstGeom>
          <a:ln>
            <a:solidFill>
              <a:srgbClr val="002060"/>
            </a:solidFill>
          </a:ln>
          <a:effectLst>
            <a:glow rad="63500">
              <a:schemeClr val="accent5">
                <a:satMod val="175000"/>
                <a:alpha val="40000"/>
              </a:schemeClr>
            </a:glow>
          </a:effectLst>
        </p:spPr>
      </p:pic>
      <p:sp>
        <p:nvSpPr>
          <p:cNvPr id="8" name="Szövegdoboz 7"/>
          <p:cNvSpPr txBox="1"/>
          <p:nvPr/>
        </p:nvSpPr>
        <p:spPr>
          <a:xfrm>
            <a:off x="262772" y="3668886"/>
            <a:ext cx="1741874" cy="400110"/>
          </a:xfrm>
          <a:prstGeom prst="rect">
            <a:avLst/>
          </a:prstGeom>
          <a:noFill/>
          <a:ln>
            <a:solidFill>
              <a:srgbClr val="333237"/>
            </a:solidFill>
          </a:ln>
          <a:effectLst>
            <a:glow rad="101600">
              <a:srgbClr val="302F34">
                <a:alpha val="60000"/>
              </a:srgbClr>
            </a:glow>
          </a:effectLst>
        </p:spPr>
        <p:txBody>
          <a:bodyPr wrap="square" rtlCol="0">
            <a:spAutoFit/>
          </a:bodyPr>
          <a:lstStyle/>
          <a:p>
            <a:r>
              <a:rPr lang="hu-HU" sz="2000" dirty="0">
                <a:solidFill>
                  <a:schemeClr val="bg1"/>
                </a:solidFill>
                <a:latin typeface="Imprint MT Shadow" panose="04020605060303030202" pitchFamily="82" charset="0"/>
              </a:rPr>
              <a:t>Bejelentkezés:</a:t>
            </a:r>
          </a:p>
        </p:txBody>
      </p:sp>
      <p:sp>
        <p:nvSpPr>
          <p:cNvPr id="9" name="Szövegdoboz 8"/>
          <p:cNvSpPr txBox="1"/>
          <p:nvPr/>
        </p:nvSpPr>
        <p:spPr>
          <a:xfrm>
            <a:off x="10406009" y="3766399"/>
            <a:ext cx="1600200" cy="400110"/>
          </a:xfrm>
          <a:prstGeom prst="rect">
            <a:avLst/>
          </a:prstGeom>
          <a:noFill/>
          <a:ln>
            <a:solidFill>
              <a:srgbClr val="333237"/>
            </a:solidFill>
          </a:ln>
          <a:effectLst>
            <a:glow rad="101600">
              <a:srgbClr val="302F34">
                <a:alpha val="60000"/>
              </a:srgbClr>
            </a:glow>
          </a:effectLst>
        </p:spPr>
        <p:txBody>
          <a:bodyPr wrap="square" rtlCol="0">
            <a:spAutoFit/>
          </a:bodyPr>
          <a:lstStyle/>
          <a:p>
            <a:r>
              <a:rPr lang="hu-HU" sz="2000" dirty="0">
                <a:solidFill>
                  <a:schemeClr val="bg1"/>
                </a:solidFill>
                <a:latin typeface="Imprint MT Shadow" panose="04020605060303030202" pitchFamily="82" charset="0"/>
              </a:rPr>
              <a:t>Regisztráció:</a:t>
            </a:r>
          </a:p>
        </p:txBody>
      </p:sp>
    </p:spTree>
    <p:extLst>
      <p:ext uri="{BB962C8B-B14F-4D97-AF65-F5344CB8AC3E}">
        <p14:creationId xmlns:p14="http://schemas.microsoft.com/office/powerpoint/2010/main" val="1341861481"/>
      </p:ext>
    </p:extLst>
  </p:cSld>
  <p:clrMapOvr>
    <a:masterClrMapping/>
  </p:clrMapOvr>
  <p:transition spd="slow">
    <p:wheel spokes="1"/>
  </p:transition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4008" y="0"/>
            <a:ext cx="12256008" cy="6858000"/>
          </a:xfrm>
          <a:prstGeom prst="rect">
            <a:avLst/>
          </a:prstGeom>
        </p:spPr>
      </p:pic>
      <p:pic>
        <p:nvPicPr>
          <p:cNvPr id="2" name="Kép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67595" y="-418901"/>
            <a:ext cx="3963959" cy="2303389"/>
          </a:xfrm>
          <a:prstGeom prst="rect">
            <a:avLst/>
          </a:prstGeom>
        </p:spPr>
      </p:pic>
      <p:sp>
        <p:nvSpPr>
          <p:cNvPr id="3" name="Szövegdoboz 2"/>
          <p:cNvSpPr txBox="1"/>
          <p:nvPr/>
        </p:nvSpPr>
        <p:spPr>
          <a:xfrm>
            <a:off x="-712146" y="252245"/>
            <a:ext cx="420624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4000" dirty="0">
                <a:solidFill>
                  <a:schemeClr val="bg1"/>
                </a:solidFill>
                <a:latin typeface="Imprint MT Shadow" panose="04020605060303030202" pitchFamily="82" charset="0"/>
              </a:rPr>
              <a:t>Profilok</a:t>
            </a:r>
          </a:p>
        </p:txBody>
      </p:sp>
      <p:pic>
        <p:nvPicPr>
          <p:cNvPr id="11" name="Kép 10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1921" y="2259965"/>
            <a:ext cx="4839704" cy="2719251"/>
          </a:xfrm>
          <a:prstGeom prst="rect">
            <a:avLst/>
          </a:prstGeom>
          <a:ln>
            <a:solidFill>
              <a:schemeClr val="accent1">
                <a:lumMod val="50000"/>
              </a:schemeClr>
            </a:solidFill>
          </a:ln>
          <a:effectLst>
            <a:glow rad="63500">
              <a:schemeClr val="accent5">
                <a:satMod val="175000"/>
                <a:alpha val="40000"/>
              </a:schemeClr>
            </a:glow>
          </a:effectLst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0B92F6A3-2A3A-4390-A1BE-6A161CE25F2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86838" y="2787891"/>
            <a:ext cx="2572735" cy="1444877"/>
          </a:xfrm>
          <a:prstGeom prst="rect">
            <a:avLst/>
          </a:prstGeom>
        </p:spPr>
      </p:pic>
      <p:pic>
        <p:nvPicPr>
          <p:cNvPr id="6" name="Kép 5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79476" y="432161"/>
            <a:ext cx="5207121" cy="2904653"/>
          </a:xfrm>
          <a:prstGeom prst="rect">
            <a:avLst/>
          </a:prstGeom>
          <a:ln>
            <a:solidFill>
              <a:schemeClr val="accent1"/>
            </a:solidFill>
          </a:ln>
          <a:effectLst>
            <a:glow rad="63500">
              <a:schemeClr val="accent5">
                <a:satMod val="175000"/>
                <a:alpha val="40000"/>
              </a:schemeClr>
            </a:glow>
          </a:effectLst>
        </p:spPr>
      </p:pic>
      <p:pic>
        <p:nvPicPr>
          <p:cNvPr id="7" name="Kép 6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94518" y="3653829"/>
            <a:ext cx="5292079" cy="2934669"/>
          </a:xfrm>
          <a:prstGeom prst="rect">
            <a:avLst/>
          </a:prstGeom>
          <a:ln>
            <a:solidFill>
              <a:srgbClr val="0070C0"/>
            </a:solidFill>
          </a:ln>
          <a:effectLst>
            <a:glow rad="63500">
              <a:schemeClr val="accent5">
                <a:satMod val="175000"/>
                <a:alpha val="40000"/>
              </a:schemeClr>
            </a:glow>
          </a:effectLst>
        </p:spPr>
      </p:pic>
      <p:sp>
        <p:nvSpPr>
          <p:cNvPr id="8" name="Szövegdoboz 7">
            <a:extLst>
              <a:ext uri="{FF2B5EF4-FFF2-40B4-BE49-F238E27FC236}">
                <a16:creationId xmlns:a16="http://schemas.microsoft.com/office/drawing/2014/main" id="{639DF406-47C3-4C8C-8D0E-493E74554E2C}"/>
              </a:ext>
            </a:extLst>
          </p:cNvPr>
          <p:cNvSpPr txBox="1"/>
          <p:nvPr/>
        </p:nvSpPr>
        <p:spPr>
          <a:xfrm>
            <a:off x="5607443" y="447072"/>
            <a:ext cx="1220239" cy="461665"/>
          </a:xfrm>
          <a:prstGeom prst="rect">
            <a:avLst/>
          </a:prstGeom>
          <a:noFill/>
          <a:ln>
            <a:solidFill>
              <a:srgbClr val="333237"/>
            </a:solidFill>
          </a:ln>
          <a:effectLst>
            <a:glow rad="101600">
              <a:srgbClr val="302F34">
                <a:alpha val="60000"/>
              </a:srgbClr>
            </a:glow>
          </a:effectLst>
        </p:spPr>
        <p:txBody>
          <a:bodyPr wrap="square" rtlCol="0">
            <a:spAutoFit/>
          </a:bodyPr>
          <a:lstStyle/>
          <a:p>
            <a:r>
              <a:rPr lang="hu-HU" sz="2400" dirty="0">
                <a:solidFill>
                  <a:schemeClr val="bg1"/>
                </a:solidFill>
                <a:latin typeface="Imprint MT Shadow" panose="04020605060303030202" pitchFamily="82" charset="0"/>
              </a:rPr>
              <a:t>Admin:</a:t>
            </a:r>
          </a:p>
        </p:txBody>
      </p:sp>
      <p:sp>
        <p:nvSpPr>
          <p:cNvPr id="9" name="Szövegdoboz 8">
            <a:extLst>
              <a:ext uri="{FF2B5EF4-FFF2-40B4-BE49-F238E27FC236}">
                <a16:creationId xmlns:a16="http://schemas.microsoft.com/office/drawing/2014/main" id="{36B41D46-C3A2-4097-AFF0-148F2E62397C}"/>
              </a:ext>
            </a:extLst>
          </p:cNvPr>
          <p:cNvSpPr txBox="1"/>
          <p:nvPr/>
        </p:nvSpPr>
        <p:spPr>
          <a:xfrm>
            <a:off x="5806518" y="6019060"/>
            <a:ext cx="882597" cy="461665"/>
          </a:xfrm>
          <a:prstGeom prst="rect">
            <a:avLst/>
          </a:prstGeom>
          <a:noFill/>
          <a:ln>
            <a:solidFill>
              <a:srgbClr val="333237"/>
            </a:solidFill>
          </a:ln>
          <a:effectLst>
            <a:glow rad="101600">
              <a:srgbClr val="302F34">
                <a:alpha val="60000"/>
              </a:srgbClr>
            </a:glow>
          </a:effectLst>
        </p:spPr>
        <p:txBody>
          <a:bodyPr wrap="square" rtlCol="0">
            <a:spAutoFit/>
          </a:bodyPr>
          <a:lstStyle/>
          <a:p>
            <a:r>
              <a:rPr lang="hu-HU" sz="2400" dirty="0">
                <a:solidFill>
                  <a:schemeClr val="bg1"/>
                </a:solidFill>
                <a:latin typeface="Imprint MT Shadow" panose="04020605060303030202" pitchFamily="82" charset="0"/>
              </a:rPr>
              <a:t>User:</a:t>
            </a:r>
          </a:p>
        </p:txBody>
      </p:sp>
    </p:spTree>
    <p:extLst>
      <p:ext uri="{BB962C8B-B14F-4D97-AF65-F5344CB8AC3E}">
        <p14:creationId xmlns:p14="http://schemas.microsoft.com/office/powerpoint/2010/main" val="2025631447"/>
      </p:ext>
    </p:extLst>
  </p:cSld>
  <p:clrMapOvr>
    <a:masterClrMapping/>
  </p:clrMapOvr>
  <p:transition>
    <p:cover/>
  </p:transition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4008" y="0"/>
            <a:ext cx="12256008" cy="6858000"/>
          </a:xfrm>
          <a:prstGeom prst="rect">
            <a:avLst/>
          </a:prstGeom>
        </p:spPr>
      </p:pic>
      <p:pic>
        <p:nvPicPr>
          <p:cNvPr id="2" name="Kép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25556" y="-351581"/>
            <a:ext cx="3774363" cy="2073943"/>
          </a:xfrm>
          <a:prstGeom prst="rect">
            <a:avLst/>
          </a:prstGeom>
        </p:spPr>
      </p:pic>
      <p:sp>
        <p:nvSpPr>
          <p:cNvPr id="3" name="Szövegdoboz 2"/>
          <p:cNvSpPr txBox="1"/>
          <p:nvPr/>
        </p:nvSpPr>
        <p:spPr>
          <a:xfrm>
            <a:off x="167054" y="271949"/>
            <a:ext cx="498435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3200" dirty="0">
                <a:solidFill>
                  <a:schemeClr val="bg1"/>
                </a:solidFill>
                <a:latin typeface="Imprint MT Shadow" panose="04020605060303030202" pitchFamily="82" charset="0"/>
              </a:rPr>
              <a:t>Admin felület</a:t>
            </a:r>
          </a:p>
        </p:txBody>
      </p:sp>
      <p:pic>
        <p:nvPicPr>
          <p:cNvPr id="5" name="Kép 4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7054" y="1775943"/>
            <a:ext cx="7070732" cy="2052190"/>
          </a:xfrm>
          <a:prstGeom prst="rect">
            <a:avLst/>
          </a:prstGeom>
          <a:ln>
            <a:solidFill>
              <a:srgbClr val="002060"/>
            </a:solidFill>
          </a:ln>
          <a:effectLst>
            <a:glow rad="63500">
              <a:schemeClr val="accent5">
                <a:satMod val="175000"/>
                <a:alpha val="40000"/>
              </a:schemeClr>
            </a:glow>
          </a:effectLst>
        </p:spPr>
      </p:pic>
      <p:sp>
        <p:nvSpPr>
          <p:cNvPr id="6" name="Szövegdoboz 5"/>
          <p:cNvSpPr txBox="1"/>
          <p:nvPr/>
        </p:nvSpPr>
        <p:spPr>
          <a:xfrm>
            <a:off x="167054" y="1322252"/>
            <a:ext cx="1494692" cy="400110"/>
          </a:xfrm>
          <a:prstGeom prst="rect">
            <a:avLst/>
          </a:prstGeom>
          <a:noFill/>
          <a:ln>
            <a:solidFill>
              <a:srgbClr val="333237"/>
            </a:solidFill>
          </a:ln>
          <a:effectLst>
            <a:glow rad="101600">
              <a:srgbClr val="302F34">
                <a:alpha val="60000"/>
              </a:srgbClr>
            </a:glow>
          </a:effectLst>
        </p:spPr>
        <p:txBody>
          <a:bodyPr wrap="square" rtlCol="0">
            <a:spAutoFit/>
          </a:bodyPr>
          <a:lstStyle/>
          <a:p>
            <a:pPr algn="ctr"/>
            <a:r>
              <a:rPr lang="hu-HU" sz="2000" dirty="0">
                <a:solidFill>
                  <a:schemeClr val="bg1"/>
                </a:solidFill>
                <a:latin typeface="Imprint MT Shadow" panose="04020605060303030202" pitchFamily="82" charset="0"/>
              </a:rPr>
              <a:t>Előléptetés:</a:t>
            </a:r>
            <a:endParaRPr lang="hu-HU" dirty="0"/>
          </a:p>
        </p:txBody>
      </p:sp>
      <p:pic>
        <p:nvPicPr>
          <p:cNvPr id="7" name="Kép 6"/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4142"/>
          <a:stretch/>
        </p:blipFill>
        <p:spPr>
          <a:xfrm>
            <a:off x="5072275" y="4664958"/>
            <a:ext cx="7013222" cy="1874657"/>
          </a:xfrm>
          <a:prstGeom prst="rect">
            <a:avLst/>
          </a:prstGeom>
          <a:ln>
            <a:solidFill>
              <a:srgbClr val="002060"/>
            </a:solidFill>
          </a:ln>
          <a:effectLst>
            <a:glow rad="63500">
              <a:schemeClr val="accent5">
                <a:satMod val="175000"/>
                <a:alpha val="40000"/>
              </a:schemeClr>
            </a:glow>
          </a:effectLst>
        </p:spPr>
      </p:pic>
      <p:sp>
        <p:nvSpPr>
          <p:cNvPr id="8" name="Szövegdoboz 7"/>
          <p:cNvSpPr txBox="1"/>
          <p:nvPr/>
        </p:nvSpPr>
        <p:spPr>
          <a:xfrm>
            <a:off x="4928557" y="4146518"/>
            <a:ext cx="1417027" cy="400110"/>
          </a:xfrm>
          <a:prstGeom prst="rect">
            <a:avLst/>
          </a:prstGeom>
          <a:noFill/>
          <a:ln>
            <a:solidFill>
              <a:srgbClr val="333237"/>
            </a:solidFill>
          </a:ln>
          <a:effectLst>
            <a:glow rad="101600">
              <a:srgbClr val="302F34">
                <a:alpha val="60000"/>
              </a:srgbClr>
            </a:glow>
          </a:effectLst>
        </p:spPr>
        <p:txBody>
          <a:bodyPr wrap="square" rtlCol="0">
            <a:spAutoFit/>
          </a:bodyPr>
          <a:lstStyle/>
          <a:p>
            <a:pPr algn="ctr"/>
            <a:r>
              <a:rPr lang="hu-HU" sz="2000" dirty="0">
                <a:solidFill>
                  <a:schemeClr val="bg1"/>
                </a:solidFill>
                <a:latin typeface="Imprint MT Shadow" panose="04020605060303030202" pitchFamily="82" charset="0"/>
              </a:rPr>
              <a:t>Lefokozás:</a:t>
            </a:r>
          </a:p>
        </p:txBody>
      </p:sp>
      <p:pic>
        <p:nvPicPr>
          <p:cNvPr id="14" name="Kép 1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43078" y="1984123"/>
            <a:ext cx="2572735" cy="14448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3743870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>
        <p15:prstTrans prst="pageCurlDouble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2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2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2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2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2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2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2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2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4008" y="0"/>
            <a:ext cx="12256008" cy="6858000"/>
          </a:xfrm>
          <a:prstGeom prst="rect">
            <a:avLst/>
          </a:prstGeom>
        </p:spPr>
      </p:pic>
      <p:pic>
        <p:nvPicPr>
          <p:cNvPr id="2" name="Kép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25556" y="-351581"/>
            <a:ext cx="3774363" cy="2073943"/>
          </a:xfrm>
          <a:prstGeom prst="rect">
            <a:avLst/>
          </a:prstGeom>
        </p:spPr>
      </p:pic>
      <p:sp>
        <p:nvSpPr>
          <p:cNvPr id="3" name="Szövegdoboz 2"/>
          <p:cNvSpPr txBox="1"/>
          <p:nvPr/>
        </p:nvSpPr>
        <p:spPr>
          <a:xfrm>
            <a:off x="167054" y="271949"/>
            <a:ext cx="498435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3200" dirty="0">
                <a:solidFill>
                  <a:schemeClr val="bg1"/>
                </a:solidFill>
                <a:latin typeface="Imprint MT Shadow" panose="04020605060303030202" pitchFamily="82" charset="0"/>
              </a:rPr>
              <a:t>Admin felület</a:t>
            </a:r>
          </a:p>
        </p:txBody>
      </p:sp>
      <p:sp>
        <p:nvSpPr>
          <p:cNvPr id="6" name="Szövegdoboz 5"/>
          <p:cNvSpPr txBox="1"/>
          <p:nvPr/>
        </p:nvSpPr>
        <p:spPr>
          <a:xfrm>
            <a:off x="167054" y="1594201"/>
            <a:ext cx="2098198" cy="400110"/>
          </a:xfrm>
          <a:prstGeom prst="rect">
            <a:avLst/>
          </a:prstGeom>
          <a:noFill/>
          <a:ln>
            <a:solidFill>
              <a:srgbClr val="333237"/>
            </a:solidFill>
          </a:ln>
          <a:effectLst>
            <a:glow rad="101600">
              <a:srgbClr val="302F34">
                <a:alpha val="60000"/>
              </a:srgbClr>
            </a:glow>
          </a:effectLst>
        </p:spPr>
        <p:txBody>
          <a:bodyPr wrap="square" rtlCol="0">
            <a:spAutoFit/>
          </a:bodyPr>
          <a:lstStyle/>
          <a:p>
            <a:pPr algn="ctr"/>
            <a:r>
              <a:rPr lang="hu-HU" sz="2000" dirty="0">
                <a:solidFill>
                  <a:schemeClr val="bg1"/>
                </a:solidFill>
                <a:latin typeface="Imprint MT Shadow" panose="04020605060303030202" pitchFamily="82" charset="0"/>
              </a:rPr>
              <a:t>Autó módosítása:</a:t>
            </a:r>
            <a:endParaRPr lang="hu-HU" dirty="0"/>
          </a:p>
        </p:txBody>
      </p:sp>
      <p:sp>
        <p:nvSpPr>
          <p:cNvPr id="8" name="Szövegdoboz 7"/>
          <p:cNvSpPr txBox="1"/>
          <p:nvPr/>
        </p:nvSpPr>
        <p:spPr>
          <a:xfrm>
            <a:off x="5253843" y="808867"/>
            <a:ext cx="2285647" cy="400110"/>
          </a:xfrm>
          <a:prstGeom prst="rect">
            <a:avLst/>
          </a:prstGeom>
          <a:noFill/>
          <a:ln>
            <a:solidFill>
              <a:srgbClr val="333237"/>
            </a:solidFill>
          </a:ln>
          <a:effectLst>
            <a:glow rad="101600">
              <a:srgbClr val="302F34">
                <a:alpha val="60000"/>
              </a:srgbClr>
            </a:glow>
          </a:effectLst>
        </p:spPr>
        <p:txBody>
          <a:bodyPr wrap="square" rtlCol="0">
            <a:spAutoFit/>
          </a:bodyPr>
          <a:lstStyle/>
          <a:p>
            <a:pPr algn="ctr"/>
            <a:r>
              <a:rPr lang="hu-HU" sz="2000" dirty="0">
                <a:solidFill>
                  <a:schemeClr val="bg1"/>
                </a:solidFill>
                <a:latin typeface="Imprint MT Shadow" panose="04020605060303030202" pitchFamily="82" charset="0"/>
              </a:rPr>
              <a:t>Új autó felvitele:</a:t>
            </a:r>
          </a:p>
        </p:txBody>
      </p:sp>
      <p:pic>
        <p:nvPicPr>
          <p:cNvPr id="14" name="Kép 1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19942" y="4752479"/>
            <a:ext cx="3004979" cy="1687630"/>
          </a:xfrm>
          <a:prstGeom prst="rect">
            <a:avLst/>
          </a:prstGeom>
        </p:spPr>
      </p:pic>
      <p:pic>
        <p:nvPicPr>
          <p:cNvPr id="9" name="Kép 8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7054" y="2102734"/>
            <a:ext cx="5007809" cy="4374893"/>
          </a:xfrm>
          <a:prstGeom prst="rect">
            <a:avLst/>
          </a:prstGeom>
          <a:ln>
            <a:solidFill>
              <a:srgbClr val="002060"/>
            </a:solidFill>
          </a:ln>
          <a:effectLst>
            <a:glow rad="63500">
              <a:schemeClr val="accent5">
                <a:satMod val="175000"/>
                <a:alpha val="40000"/>
              </a:schemeClr>
            </a:glow>
          </a:effectLst>
        </p:spPr>
      </p:pic>
      <p:pic>
        <p:nvPicPr>
          <p:cNvPr id="10" name="Kép 9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67191" y="1261706"/>
            <a:ext cx="6580374" cy="2905165"/>
          </a:xfrm>
          <a:prstGeom prst="rect">
            <a:avLst/>
          </a:prstGeom>
          <a:ln>
            <a:solidFill>
              <a:srgbClr val="002060"/>
            </a:solidFill>
          </a:ln>
          <a:effectLst>
            <a:glow rad="63500">
              <a:schemeClr val="accent5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31071139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14:pan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2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2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2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2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4008" y="0"/>
            <a:ext cx="12256008" cy="6858000"/>
          </a:xfrm>
          <a:prstGeom prst="rect">
            <a:avLst/>
          </a:prstGeom>
        </p:spPr>
      </p:pic>
      <p:pic>
        <p:nvPicPr>
          <p:cNvPr id="2" name="Kép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32813" y="-350302"/>
            <a:ext cx="4018133" cy="2037060"/>
          </a:xfrm>
          <a:prstGeom prst="rect">
            <a:avLst/>
          </a:prstGeom>
        </p:spPr>
      </p:pic>
      <p:sp>
        <p:nvSpPr>
          <p:cNvPr id="6" name="Szövegdoboz 5">
            <a:extLst>
              <a:ext uri="{FF2B5EF4-FFF2-40B4-BE49-F238E27FC236}">
                <a16:creationId xmlns:a16="http://schemas.microsoft.com/office/drawing/2014/main" id="{E1207F13-0F19-45FA-B6BA-841E60E21FDC}"/>
              </a:ext>
            </a:extLst>
          </p:cNvPr>
          <p:cNvSpPr txBox="1"/>
          <p:nvPr/>
        </p:nvSpPr>
        <p:spPr>
          <a:xfrm>
            <a:off x="0" y="287634"/>
            <a:ext cx="311606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3600" dirty="0">
                <a:solidFill>
                  <a:schemeClr val="bg1"/>
                </a:solidFill>
                <a:latin typeface="Imprint MT Shadow" panose="04020605060303030202" pitchFamily="82" charset="0"/>
              </a:rPr>
              <a:t>Felhasználók</a:t>
            </a:r>
          </a:p>
        </p:txBody>
      </p:sp>
      <p:pic>
        <p:nvPicPr>
          <p:cNvPr id="7" name="Kép 6">
            <a:extLst>
              <a:ext uri="{FF2B5EF4-FFF2-40B4-BE49-F238E27FC236}">
                <a16:creationId xmlns:a16="http://schemas.microsoft.com/office/drawing/2014/main" id="{82B507BE-C7F7-4081-A6A4-5534F56C67F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4186" y="1780007"/>
            <a:ext cx="9038074" cy="2282039"/>
          </a:xfrm>
          <a:prstGeom prst="rect">
            <a:avLst/>
          </a:prstGeom>
          <a:ln>
            <a:solidFill>
              <a:srgbClr val="002060"/>
            </a:solidFill>
          </a:ln>
          <a:effectLst>
            <a:glow rad="139700">
              <a:schemeClr val="accent5">
                <a:satMod val="175000"/>
                <a:alpha val="40000"/>
              </a:schemeClr>
            </a:glow>
          </a:effectLst>
        </p:spPr>
      </p:pic>
      <p:sp>
        <p:nvSpPr>
          <p:cNvPr id="3" name="Szövegdoboz 2"/>
          <p:cNvSpPr txBox="1"/>
          <p:nvPr/>
        </p:nvSpPr>
        <p:spPr>
          <a:xfrm>
            <a:off x="204186" y="4247804"/>
            <a:ext cx="5759160" cy="1938992"/>
          </a:xfrm>
          <a:prstGeom prst="rect">
            <a:avLst/>
          </a:prstGeom>
          <a:noFill/>
          <a:ln>
            <a:solidFill>
              <a:srgbClr val="302F34"/>
            </a:solidFill>
          </a:ln>
          <a:effectLst>
            <a:glow rad="101600">
              <a:srgbClr val="333237">
                <a:alpha val="60000"/>
              </a:srgbClr>
            </a:glow>
          </a:effectLst>
        </p:spPr>
        <p:txBody>
          <a:bodyPr wrap="square" rtlCol="0">
            <a:spAutoFit/>
          </a:bodyPr>
          <a:lstStyle/>
          <a:p>
            <a:r>
              <a:rPr lang="hu-HU" sz="2400" dirty="0" smtClean="0">
                <a:solidFill>
                  <a:schemeClr val="bg1"/>
                </a:solidFill>
                <a:latin typeface="Imprint MT Shadow" panose="04020605060303030202" pitchFamily="82" charset="0"/>
              </a:rPr>
              <a:t>A regisztrációhoz ,bejelentkezéshez , szerepkör hozzárendeléséhez/</a:t>
            </a:r>
          </a:p>
          <a:p>
            <a:r>
              <a:rPr lang="hu-HU" sz="2400" dirty="0" smtClean="0">
                <a:solidFill>
                  <a:schemeClr val="bg1"/>
                </a:solidFill>
                <a:latin typeface="Imprint MT Shadow" panose="04020605060303030202" pitchFamily="82" charset="0"/>
              </a:rPr>
              <a:t>Törléséhez és </a:t>
            </a:r>
            <a:r>
              <a:rPr lang="hu-HU" sz="2400" dirty="0">
                <a:solidFill>
                  <a:schemeClr val="bg1"/>
                </a:solidFill>
                <a:latin typeface="Imprint MT Shadow" panose="04020605060303030202" pitchFamily="82" charset="0"/>
              </a:rPr>
              <a:t>felhasználók </a:t>
            </a:r>
            <a:r>
              <a:rPr lang="hu-HU" sz="2400" dirty="0" smtClean="0">
                <a:solidFill>
                  <a:schemeClr val="bg1"/>
                </a:solidFill>
                <a:latin typeface="Imprint MT Shadow" panose="04020605060303030202" pitchFamily="82" charset="0"/>
              </a:rPr>
              <a:t>lekérdezéséhez/törléséhez szükséges végpontok.</a:t>
            </a:r>
            <a:endParaRPr lang="hu-HU" sz="2400" dirty="0">
              <a:solidFill>
                <a:schemeClr val="bg1"/>
              </a:solidFill>
              <a:latin typeface="Imprint MT Shadow" panose="04020605060303030202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51396613"/>
      </p:ext>
    </p:extLst>
  </p:cSld>
  <p:clrMapOvr>
    <a:masterClrMapping/>
  </p:clrMapOvr>
  <p:transition>
    <p:cover/>
  </p:transition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4008" y="0"/>
            <a:ext cx="12256008" cy="6858000"/>
          </a:xfrm>
          <a:prstGeom prst="rect">
            <a:avLst/>
          </a:prstGeom>
        </p:spPr>
      </p:pic>
      <p:pic>
        <p:nvPicPr>
          <p:cNvPr id="2" name="Kép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59446" y="-385813"/>
            <a:ext cx="4660425" cy="2362681"/>
          </a:xfrm>
          <a:prstGeom prst="rect">
            <a:avLst/>
          </a:prstGeom>
        </p:spPr>
      </p:pic>
      <p:sp>
        <p:nvSpPr>
          <p:cNvPr id="3" name="Szövegdoboz 2">
            <a:extLst>
              <a:ext uri="{FF2B5EF4-FFF2-40B4-BE49-F238E27FC236}">
                <a16:creationId xmlns:a16="http://schemas.microsoft.com/office/drawing/2014/main" id="{7D6801A9-2ECA-489E-A0F1-DE717C78513B}"/>
              </a:ext>
            </a:extLst>
          </p:cNvPr>
          <p:cNvSpPr txBox="1"/>
          <p:nvPr/>
        </p:nvSpPr>
        <p:spPr>
          <a:xfrm>
            <a:off x="138446" y="136940"/>
            <a:ext cx="390893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3600" dirty="0">
                <a:solidFill>
                  <a:schemeClr val="bg1"/>
                </a:solidFill>
                <a:latin typeface="Imprint MT Shadow" panose="04020605060303030202" pitchFamily="82" charset="0"/>
              </a:rPr>
              <a:t>A Backend kezdetleges kódja</a:t>
            </a: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E9B97B08-2971-4994-B1D4-BFE1DA98B1D4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b="10136"/>
          <a:stretch/>
        </p:blipFill>
        <p:spPr>
          <a:xfrm>
            <a:off x="438683" y="1976868"/>
            <a:ext cx="7344388" cy="3710765"/>
          </a:xfrm>
          <a:prstGeom prst="rect">
            <a:avLst/>
          </a:prstGeom>
          <a:effectLst>
            <a:glow rad="139700">
              <a:schemeClr val="accent5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161134951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14:warp dir="in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4008" y="0"/>
            <a:ext cx="12256008" cy="6858000"/>
          </a:xfrm>
          <a:prstGeom prst="rect">
            <a:avLst/>
          </a:prstGeom>
        </p:spPr>
      </p:pic>
      <p:pic>
        <p:nvPicPr>
          <p:cNvPr id="2" name="Kép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41478" y="-411886"/>
            <a:ext cx="4013410" cy="2332125"/>
          </a:xfrm>
          <a:prstGeom prst="rect">
            <a:avLst/>
          </a:prstGeom>
        </p:spPr>
      </p:pic>
      <p:sp>
        <p:nvSpPr>
          <p:cNvPr id="3" name="Szövegdoboz 2"/>
          <p:cNvSpPr txBox="1"/>
          <p:nvPr/>
        </p:nvSpPr>
        <p:spPr>
          <a:xfrm>
            <a:off x="-341401" y="312363"/>
            <a:ext cx="36833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4000" dirty="0">
                <a:solidFill>
                  <a:schemeClr val="bg1"/>
                </a:solidFill>
                <a:latin typeface="Imprint MT Shadow" panose="04020605060303030202" pitchFamily="82" charset="0"/>
              </a:rPr>
              <a:t>Autó kártyák</a:t>
            </a:r>
          </a:p>
        </p:txBody>
      </p:sp>
      <p:pic>
        <p:nvPicPr>
          <p:cNvPr id="5" name="Kép 4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869" y="1744498"/>
            <a:ext cx="6182742" cy="3461259"/>
          </a:xfrm>
          <a:prstGeom prst="rect">
            <a:avLst/>
          </a:prstGeom>
          <a:ln>
            <a:solidFill>
              <a:schemeClr val="accent1">
                <a:lumMod val="50000"/>
              </a:schemeClr>
            </a:solidFill>
          </a:ln>
          <a:effectLst>
            <a:glow rad="63500">
              <a:schemeClr val="accent5">
                <a:satMod val="175000"/>
                <a:alpha val="40000"/>
              </a:schemeClr>
            </a:glow>
          </a:effectLst>
        </p:spPr>
      </p:pic>
      <p:pic>
        <p:nvPicPr>
          <p:cNvPr id="12" name="Kép 11">
            <a:extLst>
              <a:ext uri="{FF2B5EF4-FFF2-40B4-BE49-F238E27FC236}">
                <a16:creationId xmlns:a16="http://schemas.microsoft.com/office/drawing/2014/main" id="{F0068CF7-2E47-4C60-A44E-956F0C09E64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7022087" y="3382892"/>
            <a:ext cx="3133305" cy="1762484"/>
          </a:xfrm>
          <a:prstGeom prst="rect">
            <a:avLst/>
          </a:prstGeom>
        </p:spPr>
      </p:pic>
      <p:sp>
        <p:nvSpPr>
          <p:cNvPr id="7" name="Szövegdoboz 6"/>
          <p:cNvSpPr txBox="1"/>
          <p:nvPr/>
        </p:nvSpPr>
        <p:spPr>
          <a:xfrm>
            <a:off x="6924502" y="1920239"/>
            <a:ext cx="3616037" cy="1200329"/>
          </a:xfrm>
          <a:prstGeom prst="rect">
            <a:avLst/>
          </a:prstGeom>
          <a:noFill/>
          <a:ln>
            <a:solidFill>
              <a:srgbClr val="302F34"/>
            </a:solidFill>
          </a:ln>
          <a:effectLst>
            <a:glow rad="101600">
              <a:srgbClr val="333237">
                <a:alpha val="60000"/>
              </a:srgbClr>
            </a:glow>
          </a:effectLst>
        </p:spPr>
        <p:txBody>
          <a:bodyPr wrap="square" rtlCol="0">
            <a:spAutoFit/>
          </a:bodyPr>
          <a:lstStyle/>
          <a:p>
            <a:r>
              <a:rPr lang="hu-HU" sz="2400" dirty="0">
                <a:solidFill>
                  <a:schemeClr val="bg1"/>
                </a:solidFill>
                <a:latin typeface="Imprint MT Shadow" panose="04020605060303030202" pitchFamily="82" charset="0"/>
              </a:rPr>
              <a:t>Az autó kártyái nem voltak egyformák és nem volt rajta stílus</a:t>
            </a:r>
          </a:p>
        </p:txBody>
      </p:sp>
    </p:spTree>
    <p:extLst>
      <p:ext uri="{BB962C8B-B14F-4D97-AF65-F5344CB8AC3E}">
        <p14:creationId xmlns:p14="http://schemas.microsoft.com/office/powerpoint/2010/main" val="3238719548"/>
      </p:ext>
    </p:extLst>
  </p:cSld>
  <p:clrMapOvr>
    <a:masterClrMapping/>
  </p:clrMapOvr>
  <p:transition spd="med">
    <p:cover/>
  </p:transition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4008" y="0"/>
            <a:ext cx="12256008" cy="6858000"/>
          </a:xfrm>
          <a:prstGeom prst="rect">
            <a:avLst/>
          </a:prstGeom>
        </p:spPr>
      </p:pic>
      <p:pic>
        <p:nvPicPr>
          <p:cNvPr id="2" name="Kép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41104" y="-325525"/>
            <a:ext cx="3954297" cy="2004697"/>
          </a:xfrm>
          <a:prstGeom prst="rect">
            <a:avLst/>
          </a:prstGeom>
        </p:spPr>
      </p:pic>
      <p:pic>
        <p:nvPicPr>
          <p:cNvPr id="3" name="Kép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665" y="1454728"/>
            <a:ext cx="5932405" cy="3416530"/>
          </a:xfrm>
          <a:prstGeom prst="rect">
            <a:avLst/>
          </a:prstGeom>
        </p:spPr>
      </p:pic>
      <p:pic>
        <p:nvPicPr>
          <p:cNvPr id="5" name="Kép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24070" y="3084513"/>
            <a:ext cx="6165419" cy="3573489"/>
          </a:xfrm>
          <a:prstGeom prst="rect">
            <a:avLst/>
          </a:prstGeom>
        </p:spPr>
      </p:pic>
      <p:sp>
        <p:nvSpPr>
          <p:cNvPr id="6" name="Szövegdoboz 5"/>
          <p:cNvSpPr txBox="1"/>
          <p:nvPr/>
        </p:nvSpPr>
        <p:spPr>
          <a:xfrm>
            <a:off x="182880" y="299258"/>
            <a:ext cx="257694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3200" dirty="0">
                <a:solidFill>
                  <a:schemeClr val="bg1"/>
                </a:solidFill>
                <a:latin typeface="Imprint MT Shadow" panose="04020605060303030202" pitchFamily="82" charset="0"/>
              </a:rPr>
              <a:t>Autó Kártyák</a:t>
            </a:r>
          </a:p>
        </p:txBody>
      </p:sp>
      <p:pic>
        <p:nvPicPr>
          <p:cNvPr id="7" name="Kép 6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16200000">
            <a:off x="10065457" y="201222"/>
            <a:ext cx="1761897" cy="3127519"/>
          </a:xfrm>
          <a:prstGeom prst="rect">
            <a:avLst/>
          </a:prstGeom>
        </p:spPr>
      </p:pic>
      <p:sp>
        <p:nvSpPr>
          <p:cNvPr id="8" name="Szövegdoboz 7"/>
          <p:cNvSpPr txBox="1"/>
          <p:nvPr/>
        </p:nvSpPr>
        <p:spPr>
          <a:xfrm>
            <a:off x="1332948" y="5241410"/>
            <a:ext cx="3101716" cy="523220"/>
          </a:xfrm>
          <a:prstGeom prst="rect">
            <a:avLst/>
          </a:prstGeom>
          <a:noFill/>
          <a:ln>
            <a:solidFill>
              <a:srgbClr val="302F34"/>
            </a:solidFill>
          </a:ln>
          <a:effectLst>
            <a:glow rad="101600">
              <a:srgbClr val="333237">
                <a:alpha val="60000"/>
              </a:srgbClr>
            </a:glow>
          </a:effectLst>
        </p:spPr>
        <p:txBody>
          <a:bodyPr wrap="square" rtlCol="0">
            <a:spAutoFit/>
          </a:bodyPr>
          <a:lstStyle/>
          <a:p>
            <a:pPr algn="ctr"/>
            <a:r>
              <a:rPr lang="hu-HU" sz="2800" dirty="0">
                <a:solidFill>
                  <a:schemeClr val="bg1"/>
                </a:solidFill>
                <a:latin typeface="Imprint MT Shadow" panose="04020605060303030202" pitchFamily="82" charset="0"/>
              </a:rPr>
              <a:t>Autó kártyák eleje</a:t>
            </a:r>
          </a:p>
        </p:txBody>
      </p:sp>
      <p:sp>
        <p:nvSpPr>
          <p:cNvPr id="9" name="Szövegdoboz 8"/>
          <p:cNvSpPr txBox="1"/>
          <p:nvPr/>
        </p:nvSpPr>
        <p:spPr>
          <a:xfrm>
            <a:off x="7080986" y="2398531"/>
            <a:ext cx="3865419" cy="523220"/>
          </a:xfrm>
          <a:prstGeom prst="rect">
            <a:avLst/>
          </a:prstGeom>
          <a:noFill/>
          <a:ln>
            <a:solidFill>
              <a:srgbClr val="333237"/>
            </a:solidFill>
          </a:ln>
          <a:effectLst>
            <a:glow rad="101600">
              <a:srgbClr val="333237">
                <a:alpha val="60000"/>
              </a:srgbClr>
            </a:glow>
          </a:effectLst>
        </p:spPr>
        <p:txBody>
          <a:bodyPr wrap="square" rtlCol="0">
            <a:spAutoFit/>
          </a:bodyPr>
          <a:lstStyle/>
          <a:p>
            <a:pPr algn="ctr"/>
            <a:r>
              <a:rPr lang="hu-HU" sz="2800" dirty="0">
                <a:solidFill>
                  <a:schemeClr val="bg1"/>
                </a:solidFill>
                <a:latin typeface="Imprint MT Shadow" panose="04020605060303030202" pitchFamily="82" charset="0"/>
              </a:rPr>
              <a:t>Az autó kártyák hátulja</a:t>
            </a:r>
          </a:p>
        </p:txBody>
      </p:sp>
    </p:spTree>
    <p:extLst>
      <p:ext uri="{BB962C8B-B14F-4D97-AF65-F5344CB8AC3E}">
        <p14:creationId xmlns:p14="http://schemas.microsoft.com/office/powerpoint/2010/main" val="4272674117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4008" y="0"/>
            <a:ext cx="12256008" cy="6858000"/>
          </a:xfrm>
          <a:prstGeom prst="rect">
            <a:avLst/>
          </a:prstGeom>
        </p:spPr>
      </p:pic>
      <p:pic>
        <p:nvPicPr>
          <p:cNvPr id="2" name="Kép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25555" y="-315133"/>
            <a:ext cx="3725996" cy="1888956"/>
          </a:xfrm>
          <a:prstGeom prst="rect">
            <a:avLst/>
          </a:prstGeo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26F0D393-C8A7-40BD-84C9-17CEB052759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1599" y="1763872"/>
            <a:ext cx="8445703" cy="2213422"/>
          </a:xfrm>
          <a:prstGeom prst="rect">
            <a:avLst/>
          </a:prstGeom>
          <a:ln>
            <a:solidFill>
              <a:srgbClr val="002060"/>
            </a:solidFill>
          </a:ln>
          <a:effectLst>
            <a:glow rad="139700">
              <a:schemeClr val="accent5">
                <a:satMod val="175000"/>
                <a:alpha val="40000"/>
              </a:schemeClr>
            </a:glow>
          </a:effectLst>
        </p:spPr>
      </p:pic>
      <p:sp>
        <p:nvSpPr>
          <p:cNvPr id="6" name="Szövegdoboz 5">
            <a:extLst>
              <a:ext uri="{FF2B5EF4-FFF2-40B4-BE49-F238E27FC236}">
                <a16:creationId xmlns:a16="http://schemas.microsoft.com/office/drawing/2014/main" id="{E1207F13-0F19-45FA-B6BA-841E60E21FDC}"/>
              </a:ext>
            </a:extLst>
          </p:cNvPr>
          <p:cNvSpPr txBox="1"/>
          <p:nvPr/>
        </p:nvSpPr>
        <p:spPr>
          <a:xfrm>
            <a:off x="436797" y="190049"/>
            <a:ext cx="172226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4000" dirty="0">
                <a:solidFill>
                  <a:schemeClr val="bg1"/>
                </a:solidFill>
                <a:latin typeface="Imprint MT Shadow" panose="04020605060303030202" pitchFamily="82" charset="0"/>
              </a:rPr>
              <a:t>Autók</a:t>
            </a:r>
          </a:p>
        </p:txBody>
      </p:sp>
      <p:sp>
        <p:nvSpPr>
          <p:cNvPr id="3" name="Szövegdoboz 2"/>
          <p:cNvSpPr txBox="1"/>
          <p:nvPr/>
        </p:nvSpPr>
        <p:spPr>
          <a:xfrm>
            <a:off x="315884" y="4339244"/>
            <a:ext cx="6168043" cy="830997"/>
          </a:xfrm>
          <a:prstGeom prst="rect">
            <a:avLst/>
          </a:prstGeom>
          <a:noFill/>
          <a:ln>
            <a:solidFill>
              <a:srgbClr val="302F34"/>
            </a:solidFill>
          </a:ln>
          <a:effectLst>
            <a:glow rad="101600">
              <a:srgbClr val="333237">
                <a:alpha val="60000"/>
              </a:srgbClr>
            </a:glow>
          </a:effectLst>
        </p:spPr>
        <p:txBody>
          <a:bodyPr wrap="square" rtlCol="0">
            <a:spAutoFit/>
          </a:bodyPr>
          <a:lstStyle/>
          <a:p>
            <a:r>
              <a:rPr lang="hu-HU" sz="2400" dirty="0" smtClean="0">
                <a:solidFill>
                  <a:schemeClr val="bg1"/>
                </a:solidFill>
                <a:latin typeface="Imprint MT Shadow" panose="04020605060303030202" pitchFamily="82" charset="0"/>
              </a:rPr>
              <a:t>Autók megjelenítéshez ,felviteléhez ,törléséhez és módosításához szükséges végpontok.</a:t>
            </a:r>
            <a:endParaRPr lang="hu-HU" sz="2400" dirty="0">
              <a:solidFill>
                <a:schemeClr val="bg1"/>
              </a:solidFill>
              <a:latin typeface="Imprint MT Shadow" panose="04020605060303030202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70997015"/>
      </p:ext>
    </p:extLst>
  </p:cSld>
  <p:clrMapOvr>
    <a:masterClrMapping/>
  </p:clrMapOvr>
  <p:transition>
    <p:cover/>
  </p:transition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4008" y="0"/>
            <a:ext cx="12256008" cy="6858000"/>
          </a:xfrm>
          <a:prstGeom prst="rect">
            <a:avLst/>
          </a:prstGeom>
        </p:spPr>
      </p:pic>
      <p:pic>
        <p:nvPicPr>
          <p:cNvPr id="2" name="Kép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25555" y="-315133"/>
            <a:ext cx="3725996" cy="1888956"/>
          </a:xfrm>
          <a:prstGeom prst="rect">
            <a:avLst/>
          </a:prstGeom>
        </p:spPr>
      </p:pic>
      <p:sp>
        <p:nvSpPr>
          <p:cNvPr id="6" name="Szövegdoboz 5">
            <a:extLst>
              <a:ext uri="{FF2B5EF4-FFF2-40B4-BE49-F238E27FC236}">
                <a16:creationId xmlns:a16="http://schemas.microsoft.com/office/drawing/2014/main" id="{E1207F13-0F19-45FA-B6BA-841E60E21FDC}"/>
              </a:ext>
            </a:extLst>
          </p:cNvPr>
          <p:cNvSpPr txBox="1"/>
          <p:nvPr/>
        </p:nvSpPr>
        <p:spPr>
          <a:xfrm>
            <a:off x="436797" y="190049"/>
            <a:ext cx="172226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4000" dirty="0">
                <a:solidFill>
                  <a:schemeClr val="bg1"/>
                </a:solidFill>
                <a:latin typeface="Imprint MT Shadow" panose="04020605060303030202" pitchFamily="82" charset="0"/>
              </a:rPr>
              <a:t>Autók</a:t>
            </a:r>
          </a:p>
        </p:txBody>
      </p:sp>
      <p:pic>
        <p:nvPicPr>
          <p:cNvPr id="3" name="Kép 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38596" y="2230003"/>
            <a:ext cx="7173884" cy="3885854"/>
          </a:xfrm>
          <a:prstGeom prst="rect">
            <a:avLst/>
          </a:prstGeom>
          <a:ln>
            <a:solidFill>
              <a:schemeClr val="accent1">
                <a:lumMod val="75000"/>
              </a:schemeClr>
            </a:solidFill>
          </a:ln>
          <a:effectLst>
            <a:glow rad="63500">
              <a:schemeClr val="accent5">
                <a:satMod val="175000"/>
                <a:alpha val="40000"/>
              </a:schemeClr>
            </a:glow>
          </a:effectLst>
        </p:spPr>
      </p:pic>
      <p:sp>
        <p:nvSpPr>
          <p:cNvPr id="8" name="Szövegdoboz 7"/>
          <p:cNvSpPr txBox="1"/>
          <p:nvPr/>
        </p:nvSpPr>
        <p:spPr>
          <a:xfrm>
            <a:off x="8778239" y="2335876"/>
            <a:ext cx="3050771" cy="1569660"/>
          </a:xfrm>
          <a:prstGeom prst="rect">
            <a:avLst/>
          </a:prstGeom>
          <a:noFill/>
          <a:ln>
            <a:solidFill>
              <a:srgbClr val="302F34"/>
            </a:solidFill>
          </a:ln>
          <a:effectLst>
            <a:glow rad="101600">
              <a:srgbClr val="333237">
                <a:alpha val="60000"/>
              </a:srgbClr>
            </a:glow>
          </a:effectLst>
        </p:spPr>
        <p:txBody>
          <a:bodyPr wrap="square" rtlCol="0">
            <a:spAutoFit/>
          </a:bodyPr>
          <a:lstStyle/>
          <a:p>
            <a:r>
              <a:rPr lang="hu-HU" sz="2400" dirty="0" smtClean="0">
                <a:solidFill>
                  <a:schemeClr val="bg1"/>
                </a:solidFill>
                <a:latin typeface="Imprint MT Shadow" panose="04020605060303030202" pitchFamily="82" charset="0"/>
              </a:rPr>
              <a:t>Az autó adatai ami részletesebben információknál jelenik meg.</a:t>
            </a:r>
            <a:endParaRPr lang="hu-HU" sz="2400" dirty="0">
              <a:solidFill>
                <a:schemeClr val="bg1"/>
              </a:solidFill>
              <a:latin typeface="Imprint MT Shadow" panose="04020605060303030202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59983091"/>
      </p:ext>
    </p:extLst>
  </p:cSld>
  <p:clrMapOvr>
    <a:masterClrMapping/>
  </p:clrMapOvr>
  <p:transition>
    <p:cover/>
  </p:transition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4008" y="0"/>
            <a:ext cx="12256008" cy="6858000"/>
          </a:xfrm>
          <a:prstGeom prst="rect">
            <a:avLst/>
          </a:prstGeom>
        </p:spPr>
      </p:pic>
      <p:pic>
        <p:nvPicPr>
          <p:cNvPr id="2" name="Kép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28129" y="-407653"/>
            <a:ext cx="4181384" cy="2119823"/>
          </a:xfrm>
          <a:prstGeom prst="rect">
            <a:avLst/>
          </a:prstGeom>
        </p:spPr>
      </p:pic>
      <p:sp>
        <p:nvSpPr>
          <p:cNvPr id="3" name="Szövegdoboz 2"/>
          <p:cNvSpPr txBox="1"/>
          <p:nvPr/>
        </p:nvSpPr>
        <p:spPr>
          <a:xfrm>
            <a:off x="96715" y="271949"/>
            <a:ext cx="498435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3200" dirty="0">
                <a:solidFill>
                  <a:schemeClr val="bg1"/>
                </a:solidFill>
                <a:latin typeface="Imprint MT Shadow" panose="04020605060303030202" pitchFamily="82" charset="0"/>
              </a:rPr>
              <a:t>Részletesebben</a:t>
            </a:r>
          </a:p>
        </p:txBody>
      </p:sp>
      <p:pic>
        <p:nvPicPr>
          <p:cNvPr id="5" name="Kép 4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26546" y="598804"/>
            <a:ext cx="5465060" cy="3024090"/>
          </a:xfrm>
          <a:prstGeom prst="rect">
            <a:avLst/>
          </a:prstGeom>
          <a:ln>
            <a:solidFill>
              <a:srgbClr val="002060"/>
            </a:solidFill>
          </a:ln>
          <a:effectLst>
            <a:glow rad="63500">
              <a:schemeClr val="accent5">
                <a:satMod val="175000"/>
                <a:alpha val="40000"/>
              </a:schemeClr>
            </a:glow>
          </a:effectLst>
        </p:spPr>
      </p:pic>
      <p:sp>
        <p:nvSpPr>
          <p:cNvPr id="6" name="Szövegdoboz 5"/>
          <p:cNvSpPr txBox="1"/>
          <p:nvPr/>
        </p:nvSpPr>
        <p:spPr>
          <a:xfrm>
            <a:off x="4213978" y="579336"/>
            <a:ext cx="2461847" cy="400110"/>
          </a:xfrm>
          <a:prstGeom prst="rect">
            <a:avLst/>
          </a:prstGeom>
          <a:noFill/>
          <a:ln>
            <a:solidFill>
              <a:srgbClr val="333237"/>
            </a:solidFill>
          </a:ln>
          <a:effectLst>
            <a:glow rad="101600">
              <a:srgbClr val="302F34">
                <a:alpha val="60000"/>
              </a:srgbClr>
            </a:glow>
          </a:effectLst>
        </p:spPr>
        <p:txBody>
          <a:bodyPr wrap="square" rtlCol="0">
            <a:spAutoFit/>
          </a:bodyPr>
          <a:lstStyle/>
          <a:p>
            <a:r>
              <a:rPr lang="hu-HU" sz="2000" dirty="0">
                <a:solidFill>
                  <a:schemeClr val="bg1"/>
                </a:solidFill>
                <a:latin typeface="Imprint MT Shadow" panose="04020605060303030202" pitchFamily="82" charset="0"/>
              </a:rPr>
              <a:t>Részletesebb adatok:</a:t>
            </a:r>
          </a:p>
        </p:txBody>
      </p:sp>
      <p:pic>
        <p:nvPicPr>
          <p:cNvPr id="7" name="Kép 6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2541" y="3745616"/>
            <a:ext cx="7315201" cy="2839006"/>
          </a:xfrm>
          <a:prstGeom prst="rect">
            <a:avLst/>
          </a:prstGeom>
          <a:ln>
            <a:solidFill>
              <a:srgbClr val="002060"/>
            </a:solidFill>
          </a:ln>
          <a:effectLst>
            <a:glow rad="63500">
              <a:schemeClr val="accent5">
                <a:satMod val="175000"/>
                <a:alpha val="40000"/>
              </a:schemeClr>
            </a:glow>
          </a:effectLst>
        </p:spPr>
      </p:pic>
      <p:sp>
        <p:nvSpPr>
          <p:cNvPr id="8" name="Szövegdoboz 7"/>
          <p:cNvSpPr txBox="1"/>
          <p:nvPr/>
        </p:nvSpPr>
        <p:spPr>
          <a:xfrm>
            <a:off x="192541" y="3272183"/>
            <a:ext cx="3604846" cy="400110"/>
          </a:xfrm>
          <a:prstGeom prst="rect">
            <a:avLst/>
          </a:prstGeom>
          <a:noFill/>
          <a:ln>
            <a:solidFill>
              <a:srgbClr val="333237"/>
            </a:solidFill>
          </a:ln>
          <a:effectLst>
            <a:glow rad="101600">
              <a:srgbClr val="302F34">
                <a:alpha val="60000"/>
              </a:srgbClr>
            </a:glow>
          </a:effectLst>
        </p:spPr>
        <p:txBody>
          <a:bodyPr wrap="square" rtlCol="0">
            <a:spAutoFit/>
          </a:bodyPr>
          <a:lstStyle/>
          <a:p>
            <a:r>
              <a:rPr lang="hu-HU" sz="2000" dirty="0">
                <a:solidFill>
                  <a:schemeClr val="bg1"/>
                </a:solidFill>
                <a:latin typeface="Imprint MT Shadow" panose="04020605060303030202" pitchFamily="82" charset="0"/>
              </a:rPr>
              <a:t>Kommentek és komment írása:</a:t>
            </a:r>
          </a:p>
        </p:txBody>
      </p:sp>
    </p:spTree>
    <p:extLst>
      <p:ext uri="{BB962C8B-B14F-4D97-AF65-F5344CB8AC3E}">
        <p14:creationId xmlns:p14="http://schemas.microsoft.com/office/powerpoint/2010/main" val="1164623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14:pan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2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2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2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2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4008" y="0"/>
            <a:ext cx="12256008" cy="6858000"/>
          </a:xfrm>
          <a:prstGeom prst="rect">
            <a:avLst/>
          </a:prstGeom>
        </p:spPr>
      </p:pic>
      <p:pic>
        <p:nvPicPr>
          <p:cNvPr id="2" name="Kép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32813" y="-350302"/>
            <a:ext cx="4018133" cy="2037060"/>
          </a:xfrm>
          <a:prstGeom prst="rect">
            <a:avLst/>
          </a:prstGeom>
        </p:spPr>
      </p:pic>
      <p:sp>
        <p:nvSpPr>
          <p:cNvPr id="6" name="Szövegdoboz 5">
            <a:extLst>
              <a:ext uri="{FF2B5EF4-FFF2-40B4-BE49-F238E27FC236}">
                <a16:creationId xmlns:a16="http://schemas.microsoft.com/office/drawing/2014/main" id="{E1207F13-0F19-45FA-B6BA-841E60E21FDC}"/>
              </a:ext>
            </a:extLst>
          </p:cNvPr>
          <p:cNvSpPr txBox="1"/>
          <p:nvPr/>
        </p:nvSpPr>
        <p:spPr>
          <a:xfrm>
            <a:off x="-132813" y="245014"/>
            <a:ext cx="319596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3600" dirty="0">
                <a:solidFill>
                  <a:schemeClr val="bg1"/>
                </a:solidFill>
                <a:latin typeface="Imprint MT Shadow" panose="04020605060303030202" pitchFamily="82" charset="0"/>
              </a:rPr>
              <a:t>Kommentek</a:t>
            </a:r>
          </a:p>
        </p:txBody>
      </p:sp>
      <p:pic>
        <p:nvPicPr>
          <p:cNvPr id="7" name="Kép 6">
            <a:extLst>
              <a:ext uri="{FF2B5EF4-FFF2-40B4-BE49-F238E27FC236}">
                <a16:creationId xmlns:a16="http://schemas.microsoft.com/office/drawing/2014/main" id="{AF368673-4764-4647-B765-23928C545F9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3065" y="1782691"/>
            <a:ext cx="7795093" cy="2037060"/>
          </a:xfrm>
          <a:prstGeom prst="rect">
            <a:avLst/>
          </a:prstGeom>
          <a:ln>
            <a:solidFill>
              <a:srgbClr val="002060"/>
            </a:solidFill>
          </a:ln>
          <a:effectLst>
            <a:glow rad="139700">
              <a:schemeClr val="accent5">
                <a:satMod val="175000"/>
                <a:alpha val="40000"/>
              </a:schemeClr>
            </a:glow>
          </a:effectLst>
        </p:spPr>
      </p:pic>
      <p:sp>
        <p:nvSpPr>
          <p:cNvPr id="3" name="Szövegdoboz 2"/>
          <p:cNvSpPr txBox="1"/>
          <p:nvPr/>
        </p:nvSpPr>
        <p:spPr>
          <a:xfrm>
            <a:off x="8362602" y="1782691"/>
            <a:ext cx="3591100" cy="1938992"/>
          </a:xfrm>
          <a:prstGeom prst="rect">
            <a:avLst/>
          </a:prstGeom>
          <a:noFill/>
          <a:ln>
            <a:solidFill>
              <a:srgbClr val="302F34"/>
            </a:solidFill>
          </a:ln>
          <a:effectLst>
            <a:glow rad="101600">
              <a:srgbClr val="333237">
                <a:alpha val="60000"/>
              </a:srgbClr>
            </a:glow>
          </a:effectLst>
        </p:spPr>
        <p:txBody>
          <a:bodyPr wrap="square" rtlCol="0">
            <a:spAutoFit/>
          </a:bodyPr>
          <a:lstStyle/>
          <a:p>
            <a:r>
              <a:rPr lang="hu-HU" sz="2400" dirty="0" smtClean="0">
                <a:solidFill>
                  <a:schemeClr val="bg1"/>
                </a:solidFill>
                <a:latin typeface="Imprint MT Shadow" panose="04020605060303030202" pitchFamily="82" charset="0"/>
              </a:rPr>
              <a:t>A kommentek felviteléhez megjelenítéséhez törléshez és módosításához szükséges végpontok.</a:t>
            </a:r>
            <a:endParaRPr lang="hu-HU" sz="2400" dirty="0">
              <a:solidFill>
                <a:schemeClr val="bg1"/>
              </a:solidFill>
              <a:latin typeface="Imprint MT Shadow" panose="04020605060303030202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67130546"/>
      </p:ext>
    </p:extLst>
  </p:cSld>
  <p:clrMapOvr>
    <a:masterClrMapping/>
  </p:clrMapOvr>
  <p:transition>
    <p:cover/>
  </p:transition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4008" y="0"/>
            <a:ext cx="12256008" cy="6858000"/>
          </a:xfrm>
          <a:prstGeom prst="rect">
            <a:avLst/>
          </a:prstGeom>
        </p:spPr>
      </p:pic>
      <p:pic>
        <p:nvPicPr>
          <p:cNvPr id="2" name="Kép 1"/>
          <p:cNvPicPr>
            <a:picLocks noChangeAspect="1"/>
          </p:cNvPicPr>
          <p:nvPr/>
        </p:nvPicPr>
        <p:blipFill rotWithShape="1">
          <a:blip r:embed="rId3"/>
          <a:srcRect l="12683"/>
          <a:stretch/>
        </p:blipFill>
        <p:spPr>
          <a:xfrm>
            <a:off x="-64008" y="-473942"/>
            <a:ext cx="4526408" cy="2628057"/>
          </a:xfrm>
          <a:prstGeom prst="rect">
            <a:avLst/>
          </a:prstGeom>
        </p:spPr>
      </p:pic>
      <p:sp>
        <p:nvSpPr>
          <p:cNvPr id="5" name="Szövegdoboz 4">
            <a:extLst>
              <a:ext uri="{FF2B5EF4-FFF2-40B4-BE49-F238E27FC236}">
                <a16:creationId xmlns:a16="http://schemas.microsoft.com/office/drawing/2014/main" id="{53B52D56-9B8A-4215-86C5-B04868F5824B}"/>
              </a:ext>
            </a:extLst>
          </p:cNvPr>
          <p:cNvSpPr txBox="1"/>
          <p:nvPr/>
        </p:nvSpPr>
        <p:spPr>
          <a:xfrm>
            <a:off x="112011" y="172456"/>
            <a:ext cx="4174369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3200" dirty="0">
                <a:solidFill>
                  <a:schemeClr val="bg1"/>
                </a:solidFill>
                <a:latin typeface="Imprint MT Shadow" panose="04020605060303030202" pitchFamily="82" charset="0"/>
              </a:rPr>
              <a:t>Az adatbázis </a:t>
            </a:r>
          </a:p>
          <a:p>
            <a:r>
              <a:rPr lang="hu-HU" sz="3200" dirty="0" smtClean="0">
                <a:solidFill>
                  <a:schemeClr val="bg1"/>
                </a:solidFill>
                <a:latin typeface="Imprint MT Shadow" panose="04020605060303030202" pitchFamily="82" charset="0"/>
              </a:rPr>
              <a:t>Kinézete</a:t>
            </a:r>
            <a:endParaRPr lang="hu-HU" sz="3200" dirty="0">
              <a:solidFill>
                <a:schemeClr val="bg1"/>
              </a:solidFill>
              <a:latin typeface="Imprint MT Shadow" panose="04020605060303030202" pitchFamily="82" charset="0"/>
            </a:endParaRPr>
          </a:p>
        </p:txBody>
      </p:sp>
      <p:pic>
        <p:nvPicPr>
          <p:cNvPr id="6" name="Kép 5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98152" y="577323"/>
            <a:ext cx="7063157" cy="2118947"/>
          </a:xfrm>
          <a:prstGeom prst="rect">
            <a:avLst/>
          </a:prstGeom>
          <a:ln>
            <a:solidFill>
              <a:srgbClr val="002060"/>
            </a:solidFill>
          </a:ln>
          <a:effectLst>
            <a:glow rad="63500">
              <a:schemeClr val="accent5">
                <a:satMod val="175000"/>
                <a:alpha val="40000"/>
              </a:schemeClr>
            </a:glow>
          </a:effectLst>
        </p:spPr>
      </p:pic>
      <p:pic>
        <p:nvPicPr>
          <p:cNvPr id="7" name="Kép 6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9934" y="3047541"/>
            <a:ext cx="6833912" cy="3370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0775159"/>
      </p:ext>
    </p:extLst>
  </p:cSld>
  <p:clrMapOvr>
    <a:masterClrMapping/>
  </p:clrMapOvr>
  <p:transition spd="med">
    <p:pull/>
  </p:transition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4008" y="0"/>
            <a:ext cx="12256008" cy="6858000"/>
          </a:xfrm>
          <a:prstGeom prst="rect">
            <a:avLst/>
          </a:prstGeom>
        </p:spPr>
      </p:pic>
      <p:pic>
        <p:nvPicPr>
          <p:cNvPr id="2" name="Kép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48215" y="-385813"/>
            <a:ext cx="3994516" cy="2321145"/>
          </a:xfrm>
          <a:prstGeom prst="rect">
            <a:avLst/>
          </a:prstGeom>
        </p:spPr>
      </p:pic>
      <p:sp>
        <p:nvSpPr>
          <p:cNvPr id="3" name="Szövegdoboz 2"/>
          <p:cNvSpPr txBox="1"/>
          <p:nvPr/>
        </p:nvSpPr>
        <p:spPr>
          <a:xfrm>
            <a:off x="-620018" y="290630"/>
            <a:ext cx="420624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4400" dirty="0">
                <a:solidFill>
                  <a:schemeClr val="bg1"/>
                </a:solidFill>
                <a:latin typeface="Imprint MT Shadow" panose="04020605060303030202" pitchFamily="82" charset="0"/>
              </a:rPr>
              <a:t>Mini játék</a:t>
            </a:r>
          </a:p>
        </p:txBody>
      </p:sp>
      <p:pic>
        <p:nvPicPr>
          <p:cNvPr id="5" name="Kép 4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3682" y="2397491"/>
            <a:ext cx="4992470" cy="2801271"/>
          </a:xfrm>
          <a:prstGeom prst="rect">
            <a:avLst/>
          </a:prstGeom>
          <a:ln>
            <a:solidFill>
              <a:schemeClr val="accent1">
                <a:lumMod val="50000"/>
              </a:schemeClr>
            </a:solidFill>
          </a:ln>
          <a:effectLst>
            <a:glow rad="63500">
              <a:schemeClr val="accent5">
                <a:satMod val="175000"/>
                <a:alpha val="40000"/>
              </a:schemeClr>
            </a:glow>
          </a:effectLst>
        </p:spPr>
      </p:pic>
      <p:pic>
        <p:nvPicPr>
          <p:cNvPr id="6" name="Kép 5">
            <a:extLst>
              <a:ext uri="{FF2B5EF4-FFF2-40B4-BE49-F238E27FC236}">
                <a16:creationId xmlns:a16="http://schemas.microsoft.com/office/drawing/2014/main" id="{F4BE265A-BD20-46A1-9B06-087712762A7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77537" y="2846711"/>
            <a:ext cx="2572735" cy="1444877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5740E94C-2E26-4114-9578-C2EC1470765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45850" y="738819"/>
            <a:ext cx="5042577" cy="2830331"/>
          </a:xfrm>
          <a:prstGeom prst="rect">
            <a:avLst/>
          </a:prstGeom>
          <a:ln>
            <a:solidFill>
              <a:srgbClr val="002060"/>
            </a:solidFill>
          </a:ln>
          <a:effectLst>
            <a:glow rad="63500">
              <a:schemeClr val="accent5">
                <a:satMod val="175000"/>
                <a:alpha val="40000"/>
              </a:schemeClr>
            </a:glow>
          </a:effectLst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EE43A0BA-6007-4F3E-80A7-173EAE1CFDC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95741" y="3779200"/>
            <a:ext cx="5042577" cy="2839124"/>
          </a:xfrm>
          <a:prstGeom prst="rect">
            <a:avLst/>
          </a:prstGeom>
          <a:ln>
            <a:solidFill>
              <a:srgbClr val="002060"/>
            </a:solidFill>
          </a:ln>
          <a:effectLst>
            <a:glow rad="63500">
              <a:schemeClr val="accent5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1504564082"/>
      </p:ext>
    </p:extLst>
  </p:cSld>
  <p:clrMapOvr>
    <a:masterClrMapping/>
  </p:clrMapOvr>
  <p:transition>
    <p:cover/>
  </p:transition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4008" y="0"/>
            <a:ext cx="12256008" cy="6858000"/>
          </a:xfrm>
          <a:prstGeom prst="rect">
            <a:avLst/>
          </a:prstGeom>
        </p:spPr>
      </p:pic>
      <p:pic>
        <p:nvPicPr>
          <p:cNvPr id="2" name="Kép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59446" y="-483466"/>
            <a:ext cx="5127851" cy="2599650"/>
          </a:xfrm>
          <a:prstGeom prst="rect">
            <a:avLst/>
          </a:prstGeom>
        </p:spPr>
      </p:pic>
      <p:sp>
        <p:nvSpPr>
          <p:cNvPr id="3" name="Szövegdoboz 2"/>
          <p:cNvSpPr txBox="1"/>
          <p:nvPr/>
        </p:nvSpPr>
        <p:spPr>
          <a:xfrm>
            <a:off x="15370" y="184025"/>
            <a:ext cx="4984351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3200" dirty="0">
                <a:solidFill>
                  <a:schemeClr val="bg1"/>
                </a:solidFill>
                <a:latin typeface="Imprint MT Shadow" panose="04020605060303030202" pitchFamily="82" charset="0"/>
              </a:rPr>
              <a:t>Személyes  </a:t>
            </a:r>
          </a:p>
          <a:p>
            <a:r>
              <a:rPr lang="hu-HU" sz="3200" dirty="0">
                <a:solidFill>
                  <a:schemeClr val="bg1"/>
                </a:solidFill>
                <a:latin typeface="Imprint MT Shadow" panose="04020605060303030202" pitchFamily="82" charset="0"/>
              </a:rPr>
              <a:t>             tapasztalataim</a:t>
            </a:r>
          </a:p>
        </p:txBody>
      </p:sp>
      <p:sp>
        <p:nvSpPr>
          <p:cNvPr id="5" name="Szövegdoboz 4">
            <a:extLst>
              <a:ext uri="{FF2B5EF4-FFF2-40B4-BE49-F238E27FC236}">
                <a16:creationId xmlns:a16="http://schemas.microsoft.com/office/drawing/2014/main" id="{3030FC31-AD42-45C4-AA45-664DFE71BDDA}"/>
              </a:ext>
            </a:extLst>
          </p:cNvPr>
          <p:cNvSpPr txBox="1"/>
          <p:nvPr/>
        </p:nvSpPr>
        <p:spPr>
          <a:xfrm>
            <a:off x="383343" y="1851157"/>
            <a:ext cx="5247929" cy="1384995"/>
          </a:xfrm>
          <a:prstGeom prst="rect">
            <a:avLst/>
          </a:prstGeom>
          <a:noFill/>
          <a:ln>
            <a:solidFill>
              <a:srgbClr val="333237"/>
            </a:solidFill>
          </a:ln>
          <a:effectLst>
            <a:glow rad="101600">
              <a:srgbClr val="302F34">
                <a:alpha val="60000"/>
              </a:srgbClr>
            </a:glow>
          </a:effectLst>
        </p:spPr>
        <p:txBody>
          <a:bodyPr wrap="square" rtlCol="0">
            <a:spAutoFit/>
          </a:bodyPr>
          <a:lstStyle/>
          <a:p>
            <a:r>
              <a:rPr lang="hu-HU" sz="2800" i="1" u="sng" dirty="0">
                <a:solidFill>
                  <a:schemeClr val="bg1"/>
                </a:solidFill>
                <a:latin typeface="Imprint MT Shadow" panose="04020605060303030202" pitchFamily="82" charset="0"/>
              </a:rPr>
              <a:t>Csapat munkáról: </a:t>
            </a:r>
            <a:r>
              <a:rPr lang="hu-HU" sz="2800" dirty="0">
                <a:solidFill>
                  <a:schemeClr val="bg1"/>
                </a:solidFill>
                <a:latin typeface="Imprint MT Shadow" panose="04020605060303030202" pitchFamily="82" charset="0"/>
              </a:rPr>
              <a:t>Együtt egyszerűbb dolgozni de nem minden szempontból.</a:t>
            </a:r>
          </a:p>
        </p:txBody>
      </p:sp>
      <p:sp>
        <p:nvSpPr>
          <p:cNvPr id="6" name="Szövegdoboz 5">
            <a:extLst>
              <a:ext uri="{FF2B5EF4-FFF2-40B4-BE49-F238E27FC236}">
                <a16:creationId xmlns:a16="http://schemas.microsoft.com/office/drawing/2014/main" id="{27A15D22-D78F-4C47-B80D-F6552335F397}"/>
              </a:ext>
            </a:extLst>
          </p:cNvPr>
          <p:cNvSpPr txBox="1"/>
          <p:nvPr/>
        </p:nvSpPr>
        <p:spPr>
          <a:xfrm>
            <a:off x="6063996" y="2445313"/>
            <a:ext cx="5669995" cy="2246769"/>
          </a:xfrm>
          <a:prstGeom prst="rect">
            <a:avLst/>
          </a:prstGeom>
          <a:noFill/>
          <a:ln>
            <a:solidFill>
              <a:srgbClr val="333237"/>
            </a:solidFill>
          </a:ln>
          <a:effectLst>
            <a:glow rad="101600">
              <a:srgbClr val="302F34">
                <a:alpha val="60000"/>
              </a:srgbClr>
            </a:glow>
          </a:effectLst>
        </p:spPr>
        <p:txBody>
          <a:bodyPr wrap="square" rtlCol="0">
            <a:spAutoFit/>
          </a:bodyPr>
          <a:lstStyle/>
          <a:p>
            <a:r>
              <a:rPr lang="hu-HU" sz="2800" i="1" u="sng" dirty="0">
                <a:solidFill>
                  <a:schemeClr val="bg1"/>
                </a:solidFill>
                <a:latin typeface="Imprint MT Shadow" panose="04020605060303030202" pitchFamily="82" charset="0"/>
              </a:rPr>
              <a:t>A kódolásról: </a:t>
            </a:r>
            <a:r>
              <a:rPr lang="hu-HU" sz="2800" dirty="0">
                <a:solidFill>
                  <a:schemeClr val="bg1"/>
                </a:solidFill>
                <a:latin typeface="Imprint MT Shadow" panose="04020605060303030202" pitchFamily="82" charset="0"/>
              </a:rPr>
              <a:t>Voltak részei ami könyebbenek tűntek de nehezebb volt és voltak részek amik nehezebbnek tűntek de könnyebb volt.</a:t>
            </a:r>
          </a:p>
        </p:txBody>
      </p:sp>
      <p:sp>
        <p:nvSpPr>
          <p:cNvPr id="7" name="Szövegdoboz 6">
            <a:extLst>
              <a:ext uri="{FF2B5EF4-FFF2-40B4-BE49-F238E27FC236}">
                <a16:creationId xmlns:a16="http://schemas.microsoft.com/office/drawing/2014/main" id="{483D54DD-B1AF-451A-9DB0-6A80C1A32454}"/>
              </a:ext>
            </a:extLst>
          </p:cNvPr>
          <p:cNvSpPr txBox="1"/>
          <p:nvPr/>
        </p:nvSpPr>
        <p:spPr>
          <a:xfrm>
            <a:off x="668655" y="4561648"/>
            <a:ext cx="4962617" cy="1815882"/>
          </a:xfrm>
          <a:prstGeom prst="rect">
            <a:avLst/>
          </a:prstGeom>
          <a:noFill/>
          <a:ln>
            <a:solidFill>
              <a:srgbClr val="333237"/>
            </a:solidFill>
          </a:ln>
          <a:effectLst>
            <a:glow rad="101600">
              <a:srgbClr val="302F34">
                <a:alpha val="60000"/>
              </a:srgbClr>
            </a:glow>
          </a:effectLst>
        </p:spPr>
        <p:txBody>
          <a:bodyPr wrap="square" rtlCol="0">
            <a:spAutoFit/>
          </a:bodyPr>
          <a:lstStyle/>
          <a:p>
            <a:r>
              <a:rPr lang="hu-HU" sz="2800" i="1" u="sng" dirty="0">
                <a:solidFill>
                  <a:schemeClr val="bg1"/>
                </a:solidFill>
                <a:latin typeface="Imprint MT Shadow" panose="04020605060303030202" pitchFamily="82" charset="0"/>
              </a:rPr>
              <a:t>Az Eredményről: </a:t>
            </a:r>
            <a:r>
              <a:rPr lang="hu-HU" sz="2800" dirty="0">
                <a:solidFill>
                  <a:schemeClr val="bg1"/>
                </a:solidFill>
                <a:latin typeface="Imprint MT Shadow" panose="04020605060303030202" pitchFamily="82" charset="0"/>
              </a:rPr>
              <a:t>Minden amit elterveztem megvalósult és megvagyok vele elégedve. De lehetet volna jobb is….</a:t>
            </a:r>
          </a:p>
        </p:txBody>
      </p:sp>
    </p:spTree>
    <p:extLst>
      <p:ext uri="{BB962C8B-B14F-4D97-AF65-F5344CB8AC3E}">
        <p14:creationId xmlns:p14="http://schemas.microsoft.com/office/powerpoint/2010/main" val="1037378568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>
        <p15:prstTrans prst="pageCurlDouble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2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2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2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2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4008" y="0"/>
            <a:ext cx="12256008" cy="6858000"/>
          </a:xfrm>
          <a:prstGeom prst="rect">
            <a:avLst/>
          </a:prstGeom>
        </p:spPr>
      </p:pic>
      <p:pic>
        <p:nvPicPr>
          <p:cNvPr id="2" name="Kép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59445" y="-483467"/>
            <a:ext cx="5007606" cy="2538690"/>
          </a:xfrm>
          <a:prstGeom prst="rect">
            <a:avLst/>
          </a:prstGeom>
        </p:spPr>
      </p:pic>
      <p:sp>
        <p:nvSpPr>
          <p:cNvPr id="3" name="Szövegdoboz 2"/>
          <p:cNvSpPr txBox="1"/>
          <p:nvPr/>
        </p:nvSpPr>
        <p:spPr>
          <a:xfrm>
            <a:off x="235130" y="339635"/>
            <a:ext cx="349213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3600" dirty="0">
                <a:solidFill>
                  <a:schemeClr val="bg1"/>
                </a:solidFill>
                <a:latin typeface="Imprint MT Shadow" panose="04020605060303030202" pitchFamily="82" charset="0"/>
              </a:rPr>
              <a:t>További terveim</a:t>
            </a:r>
          </a:p>
        </p:txBody>
      </p:sp>
      <p:sp>
        <p:nvSpPr>
          <p:cNvPr id="5" name="Szövegdoboz 4">
            <a:extLst>
              <a:ext uri="{FF2B5EF4-FFF2-40B4-BE49-F238E27FC236}">
                <a16:creationId xmlns:a16="http://schemas.microsoft.com/office/drawing/2014/main" id="{6D92A4B4-9AEA-4F8A-BFDD-61B36D0C6573}"/>
              </a:ext>
            </a:extLst>
          </p:cNvPr>
          <p:cNvSpPr txBox="1"/>
          <p:nvPr/>
        </p:nvSpPr>
        <p:spPr>
          <a:xfrm>
            <a:off x="695543" y="2083484"/>
            <a:ext cx="6187736" cy="2677656"/>
          </a:xfrm>
          <a:prstGeom prst="rect">
            <a:avLst/>
          </a:prstGeom>
          <a:noFill/>
          <a:ln>
            <a:solidFill>
              <a:srgbClr val="333237"/>
            </a:solidFill>
          </a:ln>
          <a:effectLst>
            <a:glow rad="101600">
              <a:srgbClr val="302F34">
                <a:alpha val="60000"/>
              </a:srgbClr>
            </a:glow>
          </a:effectLst>
        </p:spPr>
        <p:txBody>
          <a:bodyPr wrap="square" rtlCol="0">
            <a:spAutoFit/>
          </a:bodyPr>
          <a:lstStyle/>
          <a:p>
            <a:pPr marL="457200" indent="-457200">
              <a:buFont typeface="Wingdings" panose="05000000000000000000" pitchFamily="2" charset="2"/>
              <a:buChar char="q"/>
            </a:pPr>
            <a:r>
              <a:rPr lang="hu-HU" sz="2800" dirty="0">
                <a:solidFill>
                  <a:schemeClr val="bg1"/>
                </a:solidFill>
                <a:latin typeface="Imprint MT Shadow" panose="04020605060303030202" pitchFamily="82" charset="0"/>
              </a:rPr>
              <a:t>Profilkép feltöltés működése.</a:t>
            </a:r>
          </a:p>
          <a:p>
            <a:pPr marL="457200" indent="-457200">
              <a:buFont typeface="Wingdings" panose="05000000000000000000" pitchFamily="2" charset="2"/>
              <a:buChar char="q"/>
            </a:pPr>
            <a:r>
              <a:rPr lang="hu-HU" sz="2800" dirty="0">
                <a:solidFill>
                  <a:schemeClr val="bg1"/>
                </a:solidFill>
                <a:latin typeface="Imprint MT Shadow" panose="04020605060303030202" pitchFamily="82" charset="0"/>
              </a:rPr>
              <a:t>Személyes adatok.</a:t>
            </a:r>
          </a:p>
          <a:p>
            <a:pPr marL="457200" indent="-457200">
              <a:buFont typeface="Wingdings" panose="05000000000000000000" pitchFamily="2" charset="2"/>
              <a:buChar char="q"/>
            </a:pPr>
            <a:r>
              <a:rPr lang="hu-HU" sz="2800" dirty="0">
                <a:solidFill>
                  <a:schemeClr val="bg1"/>
                </a:solidFill>
                <a:latin typeface="Imprint MT Shadow" panose="04020605060303030202" pitchFamily="82" charset="0"/>
              </a:rPr>
              <a:t>Egymás profiljainak megnézése.</a:t>
            </a:r>
          </a:p>
          <a:p>
            <a:pPr marL="457200" indent="-457200">
              <a:buFont typeface="Wingdings" panose="05000000000000000000" pitchFamily="2" charset="2"/>
              <a:buChar char="q"/>
            </a:pPr>
            <a:r>
              <a:rPr lang="hu-HU" sz="2800" dirty="0">
                <a:solidFill>
                  <a:schemeClr val="bg1"/>
                </a:solidFill>
                <a:latin typeface="Imprint MT Shadow" panose="04020605060303030202" pitchFamily="82" charset="0"/>
              </a:rPr>
              <a:t>Értékelni minket.</a:t>
            </a:r>
          </a:p>
          <a:p>
            <a:pPr marL="457200" indent="-457200">
              <a:buFont typeface="Wingdings" panose="05000000000000000000" pitchFamily="2" charset="2"/>
              <a:buChar char="q"/>
            </a:pPr>
            <a:r>
              <a:rPr lang="hu-HU" sz="2800" dirty="0">
                <a:solidFill>
                  <a:schemeClr val="bg1"/>
                </a:solidFill>
                <a:latin typeface="Imprint MT Shadow" panose="04020605060303030202" pitchFamily="82" charset="0"/>
              </a:rPr>
              <a:t>Még egy játék.</a:t>
            </a:r>
          </a:p>
          <a:p>
            <a:pPr marL="457200" indent="-457200">
              <a:buFont typeface="Wingdings" panose="05000000000000000000" pitchFamily="2" charset="2"/>
              <a:buChar char="q"/>
            </a:pPr>
            <a:r>
              <a:rPr lang="hu-HU" sz="2800" dirty="0">
                <a:solidFill>
                  <a:schemeClr val="bg1"/>
                </a:solidFill>
                <a:latin typeface="Imprint MT Shadow" panose="04020605060303030202" pitchFamily="82" charset="0"/>
              </a:rPr>
              <a:t>Egy webshop.</a:t>
            </a:r>
          </a:p>
        </p:txBody>
      </p:sp>
    </p:spTree>
    <p:extLst>
      <p:ext uri="{BB962C8B-B14F-4D97-AF65-F5344CB8AC3E}">
        <p14:creationId xmlns:p14="http://schemas.microsoft.com/office/powerpoint/2010/main" val="2235858281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4008" y="0"/>
            <a:ext cx="12256008" cy="6858000"/>
          </a:xfrm>
          <a:prstGeom prst="rect">
            <a:avLst/>
          </a:prstGeom>
        </p:spPr>
      </p:pic>
      <p:pic>
        <p:nvPicPr>
          <p:cNvPr id="2" name="Kép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50571" y="-492345"/>
            <a:ext cx="5156369" cy="2614108"/>
          </a:xfrm>
          <a:prstGeom prst="rect">
            <a:avLst/>
          </a:prstGeom>
        </p:spPr>
      </p:pic>
      <p:sp>
        <p:nvSpPr>
          <p:cNvPr id="3" name="Szövegdoboz 2">
            <a:extLst>
              <a:ext uri="{FF2B5EF4-FFF2-40B4-BE49-F238E27FC236}">
                <a16:creationId xmlns:a16="http://schemas.microsoft.com/office/drawing/2014/main" id="{3B6D9913-2CA8-45D6-95B8-C2F7138F890C}"/>
              </a:ext>
            </a:extLst>
          </p:cNvPr>
          <p:cNvSpPr txBox="1"/>
          <p:nvPr/>
        </p:nvSpPr>
        <p:spPr>
          <a:xfrm>
            <a:off x="247663" y="390772"/>
            <a:ext cx="343565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3600" dirty="0">
                <a:solidFill>
                  <a:schemeClr val="bg1"/>
                </a:solidFill>
                <a:latin typeface="Imprint MT Shadow" panose="04020605060303030202" pitchFamily="82" charset="0"/>
              </a:rPr>
              <a:t>További terveim</a:t>
            </a:r>
          </a:p>
        </p:txBody>
      </p:sp>
      <p:sp>
        <p:nvSpPr>
          <p:cNvPr id="5" name="Szövegdoboz 4">
            <a:extLst>
              <a:ext uri="{FF2B5EF4-FFF2-40B4-BE49-F238E27FC236}">
                <a16:creationId xmlns:a16="http://schemas.microsoft.com/office/drawing/2014/main" id="{108708F0-3561-4318-A207-04A9714D5FDA}"/>
              </a:ext>
            </a:extLst>
          </p:cNvPr>
          <p:cNvSpPr txBox="1"/>
          <p:nvPr/>
        </p:nvSpPr>
        <p:spPr>
          <a:xfrm>
            <a:off x="1846555" y="2343705"/>
            <a:ext cx="9889725" cy="1815882"/>
          </a:xfrm>
          <a:prstGeom prst="rect">
            <a:avLst/>
          </a:prstGeom>
          <a:noFill/>
          <a:ln>
            <a:solidFill>
              <a:srgbClr val="302F34"/>
            </a:solidFill>
          </a:ln>
          <a:effectLst>
            <a:glow rad="101600">
              <a:srgbClr val="333237">
                <a:alpha val="60000"/>
              </a:srgbClr>
            </a:glow>
          </a:effectLst>
        </p:spPr>
        <p:txBody>
          <a:bodyPr wrap="square" rtlCol="0">
            <a:spAutoFit/>
          </a:bodyPr>
          <a:lstStyle/>
          <a:p>
            <a:pPr marL="514350" indent="-514350">
              <a:buFont typeface="Wingdings" panose="05000000000000000000" pitchFamily="2" charset="2"/>
              <a:buChar char="q"/>
            </a:pPr>
            <a:r>
              <a:rPr lang="hu-HU" sz="2800" dirty="0">
                <a:solidFill>
                  <a:schemeClr val="bg1"/>
                </a:solidFill>
                <a:latin typeface="Imprint MT Shadow" panose="04020605060303030202" pitchFamily="82" charset="0"/>
              </a:rPr>
              <a:t>Jelszó módosítás.</a:t>
            </a:r>
          </a:p>
          <a:p>
            <a:pPr marL="514350" indent="-514350">
              <a:buFont typeface="Wingdings" panose="05000000000000000000" pitchFamily="2" charset="2"/>
              <a:buChar char="q"/>
            </a:pPr>
            <a:r>
              <a:rPr lang="hu-HU" sz="2800" dirty="0">
                <a:solidFill>
                  <a:schemeClr val="bg1"/>
                </a:solidFill>
                <a:latin typeface="Imprint MT Shadow" panose="04020605060303030202" pitchFamily="82" charset="0"/>
              </a:rPr>
              <a:t>Üzenni Adminoknak.</a:t>
            </a:r>
          </a:p>
          <a:p>
            <a:pPr marL="514350" indent="-514350">
              <a:buFont typeface="Wingdings" panose="05000000000000000000" pitchFamily="2" charset="2"/>
              <a:buChar char="q"/>
            </a:pPr>
            <a:r>
              <a:rPr lang="hu-HU" sz="2800" dirty="0">
                <a:solidFill>
                  <a:schemeClr val="bg1"/>
                </a:solidFill>
                <a:latin typeface="Imprint MT Shadow" panose="04020605060303030202" pitchFamily="82" charset="0"/>
              </a:rPr>
              <a:t>Ritka-e vagy sem.</a:t>
            </a:r>
          </a:p>
          <a:p>
            <a:pPr marL="514350" indent="-514350">
              <a:buFont typeface="Wingdings" panose="05000000000000000000" pitchFamily="2" charset="2"/>
              <a:buChar char="q"/>
            </a:pPr>
            <a:r>
              <a:rPr lang="hu-HU" sz="2800" dirty="0">
                <a:solidFill>
                  <a:schemeClr val="bg1"/>
                </a:solidFill>
                <a:latin typeface="Imprint MT Shadow" panose="04020605060303030202" pitchFamily="82" charset="0"/>
              </a:rPr>
              <a:t>Egy térkép.</a:t>
            </a:r>
          </a:p>
        </p:txBody>
      </p:sp>
    </p:spTree>
    <p:extLst>
      <p:ext uri="{BB962C8B-B14F-4D97-AF65-F5344CB8AC3E}">
        <p14:creationId xmlns:p14="http://schemas.microsoft.com/office/powerpoint/2010/main" val="360504008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250">
        <p14:switch dir="r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4008" y="0"/>
            <a:ext cx="12256008" cy="6858000"/>
          </a:xfrm>
          <a:prstGeom prst="rect">
            <a:avLst/>
          </a:prstGeom>
        </p:spPr>
      </p:pic>
      <p:pic>
        <p:nvPicPr>
          <p:cNvPr id="2" name="Kép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50571" y="-492345"/>
            <a:ext cx="5156369" cy="2614108"/>
          </a:xfrm>
          <a:prstGeom prst="rect">
            <a:avLst/>
          </a:prstGeom>
        </p:spPr>
      </p:pic>
      <p:sp>
        <p:nvSpPr>
          <p:cNvPr id="3" name="Szövegdoboz 2">
            <a:extLst>
              <a:ext uri="{FF2B5EF4-FFF2-40B4-BE49-F238E27FC236}">
                <a16:creationId xmlns:a16="http://schemas.microsoft.com/office/drawing/2014/main" id="{3B6D9913-2CA8-45D6-95B8-C2F7138F890C}"/>
              </a:ext>
            </a:extLst>
          </p:cNvPr>
          <p:cNvSpPr txBox="1"/>
          <p:nvPr/>
        </p:nvSpPr>
        <p:spPr>
          <a:xfrm>
            <a:off x="247663" y="390772"/>
            <a:ext cx="343565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3600" dirty="0">
                <a:solidFill>
                  <a:schemeClr val="bg1"/>
                </a:solidFill>
                <a:latin typeface="Imprint MT Shadow" panose="04020605060303030202" pitchFamily="82" charset="0"/>
              </a:rPr>
              <a:t>További terveim</a:t>
            </a:r>
          </a:p>
        </p:txBody>
      </p:sp>
      <p:sp>
        <p:nvSpPr>
          <p:cNvPr id="5" name="Szövegdoboz 4">
            <a:extLst>
              <a:ext uri="{FF2B5EF4-FFF2-40B4-BE49-F238E27FC236}">
                <a16:creationId xmlns:a16="http://schemas.microsoft.com/office/drawing/2014/main" id="{C89A5656-0C69-45D8-A9BD-F12BF7EF39E4}"/>
              </a:ext>
            </a:extLst>
          </p:cNvPr>
          <p:cNvSpPr txBox="1"/>
          <p:nvPr/>
        </p:nvSpPr>
        <p:spPr>
          <a:xfrm>
            <a:off x="1157625" y="2286312"/>
            <a:ext cx="5051394" cy="2062103"/>
          </a:xfrm>
          <a:prstGeom prst="rect">
            <a:avLst/>
          </a:prstGeom>
          <a:noFill/>
          <a:ln>
            <a:solidFill>
              <a:srgbClr val="333237"/>
            </a:solidFill>
          </a:ln>
          <a:effectLst>
            <a:glow rad="101600">
              <a:srgbClr val="302F34">
                <a:alpha val="60000"/>
              </a:srgbClr>
            </a:glow>
          </a:effectLst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hu-HU" sz="3200" dirty="0">
                <a:solidFill>
                  <a:schemeClr val="bg1"/>
                </a:solidFill>
                <a:latin typeface="Imprint MT Shadow" panose="04020605060303030202" pitchFamily="82" charset="0"/>
              </a:rPr>
              <a:t>Email küldések.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hu-HU" sz="3200" dirty="0">
                <a:solidFill>
                  <a:schemeClr val="bg1"/>
                </a:solidFill>
                <a:latin typeface="Imprint MT Shadow" panose="04020605060303030202" pitchFamily="82" charset="0"/>
              </a:rPr>
              <a:t>Még több autó feltöltése.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hu-HU" sz="3200" dirty="0">
                <a:solidFill>
                  <a:schemeClr val="bg1"/>
                </a:solidFill>
                <a:latin typeface="Imprint MT Shadow" panose="04020605060303030202" pitchFamily="82" charset="0"/>
              </a:rPr>
              <a:t>Bannolás.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hu-HU" sz="3200" dirty="0">
                <a:solidFill>
                  <a:schemeClr val="bg1"/>
                </a:solidFill>
                <a:latin typeface="Imprint MT Shadow" panose="04020605060303030202" pitchFamily="82" charset="0"/>
              </a:rPr>
              <a:t>Mióta csatlakozott?</a:t>
            </a:r>
          </a:p>
        </p:txBody>
      </p:sp>
    </p:spTree>
    <p:extLst>
      <p:ext uri="{BB962C8B-B14F-4D97-AF65-F5344CB8AC3E}">
        <p14:creationId xmlns:p14="http://schemas.microsoft.com/office/powerpoint/2010/main" val="181654889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600">
        <p14:prism isInverted="1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4008" y="0"/>
            <a:ext cx="12256008" cy="6858000"/>
          </a:xfrm>
          <a:prstGeom prst="rect">
            <a:avLst/>
          </a:prstGeom>
        </p:spPr>
      </p:pic>
      <p:sp>
        <p:nvSpPr>
          <p:cNvPr id="3" name="Szövegdoboz 2"/>
          <p:cNvSpPr txBox="1"/>
          <p:nvPr/>
        </p:nvSpPr>
        <p:spPr>
          <a:xfrm>
            <a:off x="2047875" y="2550283"/>
            <a:ext cx="954405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6000" dirty="0">
                <a:solidFill>
                  <a:schemeClr val="bg1"/>
                </a:solidFill>
                <a:latin typeface="Imprint MT Shadow" panose="04020605060303030202" pitchFamily="82" charset="0"/>
              </a:rPr>
              <a:t>Köszönjük a figyelmet!!</a:t>
            </a:r>
          </a:p>
        </p:txBody>
      </p:sp>
      <p:pic>
        <p:nvPicPr>
          <p:cNvPr id="5" name="Kép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56373" y="4307685"/>
            <a:ext cx="3215245" cy="1808576"/>
          </a:xfrm>
          <a:prstGeom prst="rect">
            <a:avLst/>
          </a:prstGeom>
          <a:effectLst>
            <a:outerShdw blurRad="50800" dist="50800" dir="5400000" sx="102000" sy="102000" algn="ctr" rotWithShape="0">
              <a:schemeClr val="accent1">
                <a:lumMod val="75000"/>
              </a:schemeClr>
            </a:outerShdw>
          </a:effectLst>
        </p:spPr>
      </p:pic>
    </p:spTree>
    <p:extLst>
      <p:ext uri="{BB962C8B-B14F-4D97-AF65-F5344CB8AC3E}">
        <p14:creationId xmlns:p14="http://schemas.microsoft.com/office/powerpoint/2010/main" val="20156067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77</TotalTime>
  <Words>576</Words>
  <Application>Microsoft Office PowerPoint</Application>
  <PresentationFormat>Szélesvásznú</PresentationFormat>
  <Paragraphs>108</Paragraphs>
  <Slides>32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5</vt:i4>
      </vt:variant>
      <vt:variant>
        <vt:lpstr>Téma</vt:lpstr>
      </vt:variant>
      <vt:variant>
        <vt:i4>1</vt:i4>
      </vt:variant>
      <vt:variant>
        <vt:lpstr>Diacímek</vt:lpstr>
      </vt:variant>
      <vt:variant>
        <vt:i4>32</vt:i4>
      </vt:variant>
    </vt:vector>
  </HeadingPairs>
  <TitlesOfParts>
    <vt:vector size="38" baseType="lpstr">
      <vt:lpstr>Arial</vt:lpstr>
      <vt:lpstr>Calibri</vt:lpstr>
      <vt:lpstr>Calibri Light</vt:lpstr>
      <vt:lpstr>Imprint MT Shadow</vt:lpstr>
      <vt:lpstr>Wingdings</vt:lpstr>
      <vt:lpstr>Office-téma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</vt:vector>
  </TitlesOfParts>
  <Company>MITISZK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PowerPoint-bemutató</dc:title>
  <dc:creator>Tanuló</dc:creator>
  <cp:lastModifiedBy>Gamer</cp:lastModifiedBy>
  <cp:revision>118</cp:revision>
  <dcterms:created xsi:type="dcterms:W3CDTF">2025-02-13T06:51:23Z</dcterms:created>
  <dcterms:modified xsi:type="dcterms:W3CDTF">2025-04-14T12:35:56Z</dcterms:modified>
</cp:coreProperties>
</file>